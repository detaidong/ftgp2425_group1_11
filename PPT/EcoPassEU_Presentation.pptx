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311" r:id="rId2"/>
    <p:sldId id="266" r:id="rId3"/>
    <p:sldId id="313" r:id="rId4"/>
    <p:sldId id="257" r:id="rId5"/>
    <p:sldId id="292" r:id="rId6"/>
    <p:sldId id="294" r:id="rId7"/>
    <p:sldId id="296" r:id="rId8"/>
    <p:sldId id="297" r:id="rId9"/>
    <p:sldId id="298" r:id="rId10"/>
    <p:sldId id="300" r:id="rId11"/>
    <p:sldId id="301" r:id="rId12"/>
    <p:sldId id="302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4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72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1"/>
          <c:order val="1"/>
          <c:tx>
            <c:strRef>
              <c:f>Sheet1!$B$1</c:f>
              <c:strCache>
                <c:ptCount val="1"/>
                <c:pt idx="0">
                  <c:v>Gas</c:v>
                </c:pt>
              </c:strCache>
            </c:strRef>
          </c:tx>
          <c:spPr>
            <a:gradFill flip="none" rotWithShape="1">
              <a:gsLst>
                <a:gs pos="0">
                  <a:srgbClr val="70AD47">
                    <a:lumMod val="50000"/>
                  </a:srgbClr>
                </a:gs>
                <a:gs pos="0">
                  <a:srgbClr val="F5E7E7">
                    <a:alpha val="44000"/>
                  </a:srgbClr>
                </a:gs>
                <a:gs pos="100000">
                  <a:srgbClr val="9B1313"/>
                </a:gs>
              </a:gsLst>
              <a:lin ang="0" scaled="0"/>
              <a:tileRect/>
            </a:gradFill>
            <a:ln>
              <a:noFill/>
            </a:ln>
            <a:effectLst>
              <a:outerShdw dist="50800" sx="1000" sy="1000" algn="ctr" rotWithShape="0">
                <a:srgbClr val="000000"/>
              </a:outerShdw>
            </a:effectLst>
          </c:spPr>
          <c:invertIfNegative val="0"/>
          <c:dPt>
            <c:idx val="0"/>
            <c:invertIfNegative val="0"/>
            <c:bubble3D val="0"/>
            <c:spPr>
              <a:gradFill flip="none" rotWithShape="1">
                <a:gsLst>
                  <a:gs pos="0">
                    <a:srgbClr val="70AD47">
                      <a:lumMod val="50000"/>
                    </a:srgbClr>
                  </a:gs>
                  <a:gs pos="0">
                    <a:srgbClr val="F5E7E7">
                      <a:alpha val="44000"/>
                    </a:srgbClr>
                  </a:gs>
                  <a:gs pos="100000">
                    <a:srgbClr val="70AD47">
                      <a:lumMod val="50000"/>
                    </a:srgbClr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dist="50800" sx="1000" sy="1000" algn="ctr" rotWithShape="0">
                  <a:srgbClr val="000000"/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19A1-4F48-A9CE-55F79F9395EC}"/>
              </c:ext>
            </c:extLst>
          </c:dPt>
          <c:dPt>
            <c:idx val="1"/>
            <c:invertIfNegative val="0"/>
            <c:bubble3D val="0"/>
            <c:spPr>
              <a:gradFill flip="none" rotWithShape="1">
                <a:gsLst>
                  <a:gs pos="0">
                    <a:srgbClr val="70AD47">
                      <a:lumMod val="50000"/>
                    </a:srgbClr>
                  </a:gs>
                  <a:gs pos="0">
                    <a:srgbClr val="F5E7E7">
                      <a:alpha val="44000"/>
                    </a:srgbClr>
                  </a:gs>
                  <a:gs pos="100000">
                    <a:srgbClr val="70AD47">
                      <a:lumMod val="50000"/>
                    </a:srgbClr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dist="50800" sx="1000" sy="1000" algn="ctr" rotWithShape="0">
                  <a:srgbClr val="000000"/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19A1-4F48-A9CE-55F79F9395EC}"/>
              </c:ext>
            </c:extLst>
          </c:dPt>
          <c:dLbls>
            <c:dLbl>
              <c:idx val="0"/>
              <c:layout>
                <c:manualLayout>
                  <c:x val="-9.6311904806260201E-2"/>
                  <c:y val="4.0916076786603931E-17"/>
                </c:manualLayout>
              </c:layout>
              <c:tx>
                <c:rich>
                  <a:bodyPr/>
                  <a:lstStyle/>
                  <a:p>
                    <a:fld id="{F4092FCB-9BF0-4695-B436-A889A3096B37}" type="VALUE">
                      <a:rPr lang="en-US" altLang="zh-CN" b="1" i="1">
                        <a:solidFill>
                          <a:schemeClr val="bg1"/>
                        </a:solidFill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19A1-4F48-A9CE-55F79F9395EC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ctr" rtl="0">
                    <a:defRPr lang="en-US" altLang="zh-CN" sz="1100" b="1" i="1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19A1-4F48-A9CE-55F79F9395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zh-CN" sz="1100" b="0" i="0" u="none" strike="noStrike" kern="1200" baseline="0">
                    <a:solidFill>
                      <a:srgbClr val="9B1313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Single registration</c:v>
                </c:pt>
                <c:pt idx="1">
                  <c:v>Batch avg. per product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125430</c:v>
                </c:pt>
                <c:pt idx="1">
                  <c:v>92100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9A1-4F48-A9CE-55F79F9395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9"/>
        <c:overlap val="32"/>
        <c:axId val="-542348144"/>
        <c:axId val="-54234760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辅助列</c:v>
                      </c:pt>
                    </c:strCache>
                  </c:strRef>
                </c:tx>
                <c:spPr>
                  <a:gradFill flip="none" rotWithShape="1">
                    <a:gsLst>
                      <a:gs pos="0">
                        <a:schemeClr val="accent2">
                          <a:tint val="77000"/>
                        </a:schemeClr>
                      </a:gs>
                      <a:gs pos="75000">
                        <a:schemeClr val="accent2">
                          <a:tint val="77000"/>
                          <a:lumMod val="60000"/>
                          <a:lumOff val="40000"/>
                        </a:schemeClr>
                      </a:gs>
                      <a:gs pos="51000">
                        <a:schemeClr val="accent2">
                          <a:tint val="77000"/>
                          <a:alpha val="75000"/>
                        </a:schemeClr>
                      </a:gs>
                      <a:gs pos="100000">
                        <a:schemeClr val="accent2">
                          <a:tint val="77000"/>
                          <a:lumMod val="20000"/>
                          <a:lumOff val="80000"/>
                          <a:alpha val="15000"/>
                        </a:schemeClr>
                      </a:gs>
                    </a:gsLst>
                    <a:lin ang="10800000" scaled="1"/>
                    <a:tileRect/>
                  </a:gra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Sheet1!$A$2:$A$7</c15:sqref>
                        </c15:formulaRef>
                      </c:ext>
                    </c:extLst>
                    <c:strCache>
                      <c:ptCount val="6"/>
                      <c:pt idx="0">
                        <c:v>Title1</c:v>
                      </c:pt>
                      <c:pt idx="1">
                        <c:v>Title2</c:v>
                      </c:pt>
                      <c:pt idx="2">
                        <c:v>Title3</c:v>
                      </c:pt>
                      <c:pt idx="3">
                        <c:v>Title4</c:v>
                      </c:pt>
                      <c:pt idx="4">
                        <c:v>Title5</c:v>
                      </c:pt>
                      <c:pt idx="5">
                        <c:v>Title6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Sheet1!$B$2:$B$7</c15:sqref>
                        </c15:formulaRef>
                      </c:ext>
                    </c:extLst>
                    <c:numCache>
                      <c:formatCode>0%</c:formatCode>
                      <c:ptCount val="6"/>
                      <c:pt idx="0">
                        <c:v>1</c:v>
                      </c:pt>
                      <c:pt idx="1">
                        <c:v>1</c:v>
                      </c:pt>
                      <c:pt idx="2">
                        <c:v>1</c:v>
                      </c:pt>
                      <c:pt idx="3">
                        <c:v>1</c:v>
                      </c:pt>
                      <c:pt idx="4">
                        <c:v>1</c:v>
                      </c:pt>
                      <c:pt idx="5">
                        <c:v>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3-19A1-4F48-A9CE-55F79F9395EC}"/>
                  </c:ext>
                </c:extLst>
              </c15:ser>
            </c15:filteredBarSeries>
          </c:ext>
        </c:extLst>
      </c:barChart>
      <c:catAx>
        <c:axId val="-5423481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15000"/>
                <a:lumOff val="8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-542347600"/>
        <c:crosses val="autoZero"/>
        <c:auto val="1"/>
        <c:lblAlgn val="ctr"/>
        <c:lblOffset val="100"/>
        <c:noMultiLvlLbl val="0"/>
      </c:catAx>
      <c:valAx>
        <c:axId val="-542347600"/>
        <c:scaling>
          <c:orientation val="minMax"/>
        </c:scaling>
        <c:delete val="0"/>
        <c:axPos val="t"/>
        <c:majorGridlines>
          <c:spPr>
            <a:ln w="9525" cap="flat" cmpd="sng" algn="ctr">
              <a:gradFill>
                <a:gsLst>
                  <a:gs pos="99000">
                    <a:schemeClr val="tx1">
                      <a:lumMod val="25000"/>
                      <a:lumOff val="75000"/>
                    </a:schemeClr>
                  </a:gs>
                  <a:gs pos="0">
                    <a:schemeClr val="tx1">
                      <a:lumMod val="15000"/>
                      <a:lumOff val="8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-542348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4ee4665b-620c-43c4-aa1e-0664a91e10b7}"/>
      </c:ext>
    </c:extLst>
  </c:chart>
  <c:spPr>
    <a:noFill/>
    <a:ln>
      <a:noFill/>
    </a:ln>
    <a:effectLst/>
  </c:spPr>
  <c:txPr>
    <a:bodyPr/>
    <a:lstStyle/>
    <a:p>
      <a:pPr>
        <a:defRPr lang="zh-CN" sz="1100">
          <a:solidFill>
            <a:srgbClr val="9B1313"/>
          </a:solidFill>
        </a:defRPr>
      </a:pPr>
      <a:endParaRPr lang="zh-CN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2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99000">
              <a:schemeClr val="tx1">
                <a:lumMod val="25000"/>
                <a:lumOff val="75000"/>
              </a:schemeClr>
            </a:gs>
            <a:gs pos="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15000"/>
                <a:lumOff val="85000"/>
              </a:schemeClr>
            </a:gs>
            <a:gs pos="0">
              <a:schemeClr val="tx1">
                <a:lumMod val="5000"/>
                <a:lumOff val="9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925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54E01-1C5B-358E-B9D8-1130B679E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B020B7-B74A-AC34-EC83-99F397431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0D18DC-BBCA-9B21-0660-61DADFA95D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684D3-7EEF-65F2-A269-024310BD28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122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9A5FC-4C74-BA1E-43B1-B9648664B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FA3CA2-F49A-F70E-8EBC-949B09EC9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39181E-6F10-8B1E-FCF2-A44C26442E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5DFCE-6F96-B2AB-2D83-EA25326A4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877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09AE2-F3AB-C479-5EB3-06CBBCAEB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9C465C-31D3-03D0-1AD5-A9FA81DC42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ABFB89-F5D5-5B9C-F63E-74806671C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1059A-B8A8-9456-04E2-5900A4CA3E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6223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BF551-BD7D-A985-7063-CE083B21D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0727AB-2353-A764-C361-C0D9EBC49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E9978D-8A69-0243-5AE7-B248C8B90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8598E-1278-4DFC-3A02-ED8B74904E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2009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C2CA2-06B0-38E9-6FFF-DAB0B1DE8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0E9DD-106B-2315-F620-9C77BD8AA4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61B4D6-64D3-9A0B-1922-F3859A584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719D3-E8F4-FFA8-7091-C8ADCA837E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7326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65911-D701-C13D-7110-61E041D34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F92B2D-0D11-A719-9AC0-B171F38478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00DFF4-878E-A309-E846-9BA4B3A3F5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4AF88-1D4A-E5B7-5773-8F7A3E1F3E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3481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B3F24-3AAF-8841-7076-0B72712B4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63FBB7-A3BC-70CF-06C6-42BEC6F5EA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A83270-AF13-15AA-EDC2-4691F930C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8D46D7-18C0-46AF-B005-110D101071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1174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67B22-215E-A41E-BFB4-DC386B859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37E1E0-8787-DCB0-B80D-0F5A400FC0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039819-0ECC-6B0F-FB4F-F419E74E7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2EC33-E70C-03C3-84DC-1136CA0BE6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896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234AA-5412-4212-2AD1-2E9B497BB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83F8F4-D0D4-1756-F6D7-525BD1115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E9F7E0-C98D-4A0A-A7E5-7437D89231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C4DE2-EAA2-167D-3E42-6DBF1CDA24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4131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CFB06-1F49-6878-DF32-2C3712963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247B41-3E60-301B-14D6-933E1D7AA4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1CFE17-8C47-0895-5DF6-3DD2711CA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0F15F-87D2-5D6C-5603-BCF7D5F923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5424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16242-5DD8-3E2D-6247-AE6F33B8D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C94D2A-8ABD-A7D7-9EB3-8E285CB0EA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2F9B7-B116-DBF4-A118-009BC5A84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5C013-923D-A08F-D1EA-023645E0B3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7132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BAE0A-9952-24CA-F60B-3CA82E3F4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855C8B-D75A-5FE6-3CB3-500DAD382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C19995-6322-32B7-6984-ED18B5323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4EEE3-F285-D006-C171-A935D2067A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3863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A3A2A-9B9C-B7B5-CDCB-F35CB0780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7ED551-5AB9-F5C8-477B-CDFE980448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8FDBA-710E-8896-1B67-820009B4A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612E9-2E3E-B862-8E17-9CDEFB6E82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7018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64A9B-FC0B-7481-5726-98F1BB413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85B1BE-17A7-564E-119A-83EC8567E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37BA26-69F2-D8DB-679B-ECA8ABC9CD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911F0-C4E9-6446-44B3-CEAA16634A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810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2AE93-A6F6-F2C0-657A-69CF099A2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7E96C1-153A-216E-4BC3-75A5E9C48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F30C54-6378-8985-A8E6-70255EB2D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12966-56B8-5334-DE93-AFC3A7351E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7850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6DC0F-E436-1ABC-826C-97EBF88B7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DB5B57-14E5-446F-0F78-3B76C6BF2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8211AC-AE79-CDE6-1511-9A7137DCF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0AC7E-3FAF-4B71-BFFA-354685D1DB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4877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4DCAB-C853-87BF-4F8B-854636B1C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37FB9A-B17A-24A6-4E6A-D20DBDEAF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9BFBD-A901-C154-487A-06EE4CA6F6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6FE3C-09C3-D337-AF13-1BC796BE0F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6477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DC734-CD3F-F436-9DD7-D4C084E0C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0C5826-1A26-6961-774B-2E1193B8F4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BCC4C6-95FC-43F8-8AFA-73D15200D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B6BD6-88BC-077D-AE26-BF2E05010B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593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2.png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tgp-2526-group1-11.vercel.app/" TargetMode="Externa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tgp-2526-group1-11.vercel.app/" TargetMode="Externa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accent6"/>
            </a:gs>
            <a:gs pos="58000">
              <a:schemeClr val="accent6">
                <a:lumMod val="20000"/>
                <a:lumOff val="80000"/>
              </a:schemeClr>
            </a:gs>
          </a:gsLst>
          <a:lin ang="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4CA73B-DC5C-C3E1-4629-2F31256DF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97C87E1D-D603-5CBB-D2F9-A6952BF6DB5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000"/>
                    </a14:imgEffect>
                    <a14:imgEffect>
                      <a14:saturation sat="3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3050"/>
            <a:ext cx="9140825" cy="5166550"/>
          </a:xfrm>
          <a:prstGeom prst="rect">
            <a:avLst/>
          </a:prstGeom>
        </p:spPr>
      </p:pic>
      <p:sp>
        <p:nvSpPr>
          <p:cNvPr id="4" name="Shape 2">
            <a:extLst>
              <a:ext uri="{FF2B5EF4-FFF2-40B4-BE49-F238E27FC236}">
                <a16:creationId xmlns:a16="http://schemas.microsoft.com/office/drawing/2014/main" id="{D1728E0B-3509-D384-0A2D-3FD8148F92A6}"/>
              </a:ext>
            </a:extLst>
          </p:cNvPr>
          <p:cNvSpPr/>
          <p:nvPr/>
        </p:nvSpPr>
        <p:spPr>
          <a:xfrm>
            <a:off x="1167384" y="2040985"/>
            <a:ext cx="2290572" cy="224853"/>
          </a:xfrm>
          <a:prstGeom prst="roundRect">
            <a:avLst>
              <a:gd name="adj" fmla="val 13158"/>
            </a:avLst>
          </a:prstGeom>
          <a:gradFill flip="none" rotWithShape="1">
            <a:gsLst>
              <a:gs pos="0">
                <a:srgbClr val="52B788">
                  <a:shade val="30000"/>
                  <a:satMod val="115000"/>
                </a:srgbClr>
              </a:gs>
              <a:gs pos="50000">
                <a:srgbClr val="52B788">
                  <a:shade val="67500"/>
                  <a:satMod val="115000"/>
                </a:srgbClr>
              </a:gs>
              <a:gs pos="100000">
                <a:srgbClr val="52B788">
                  <a:shade val="100000"/>
                  <a:satMod val="115000"/>
                </a:srgbClr>
              </a:gs>
            </a:gsLst>
            <a:lin ang="13500000" scaled="1"/>
            <a:tileRect/>
          </a:gra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A8231DA-5B7D-A95B-A550-78AFE20A1D00}"/>
              </a:ext>
            </a:extLst>
          </p:cNvPr>
          <p:cNvSpPr/>
          <p:nvPr/>
        </p:nvSpPr>
        <p:spPr>
          <a:xfrm>
            <a:off x="1217676" y="1883330"/>
            <a:ext cx="2189988" cy="51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ESPR · BLOCKCHAIN · SUSTAINABILITY</a:t>
            </a:r>
            <a:endParaRPr lang="en-US" sz="10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4688E8E-C9EA-FDA8-EBC9-DED76943CD49}"/>
              </a:ext>
            </a:extLst>
          </p:cNvPr>
          <p:cNvSpPr/>
          <p:nvPr/>
        </p:nvSpPr>
        <p:spPr>
          <a:xfrm>
            <a:off x="457200" y="10058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EcoPassEU</a:t>
            </a:r>
            <a:endParaRPr lang="en-US" sz="5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9F04DA5-E7B8-397B-2507-5CBAD4ED5F87}"/>
              </a:ext>
            </a:extLst>
          </p:cNvPr>
          <p:cNvSpPr/>
          <p:nvPr/>
        </p:nvSpPr>
        <p:spPr>
          <a:xfrm>
            <a:off x="222812" y="2685827"/>
            <a:ext cx="7783975" cy="5145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Hybrid Blockchain Architecture for</a:t>
            </a:r>
            <a:r>
              <a:rPr lang="en-US" dirty="0"/>
              <a:t>  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ESPR-Compliant Digital Product Passports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12C9321-C64D-400E-C98C-55531F7FFD8A}"/>
              </a:ext>
            </a:extLst>
          </p:cNvPr>
          <p:cNvSpPr/>
          <p:nvPr/>
        </p:nvSpPr>
        <p:spPr>
          <a:xfrm>
            <a:off x="1304544" y="3905313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Bristol  |  2025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C39B9CA1-3071-C667-3B9C-99CA31DBCA16}"/>
              </a:ext>
            </a:extLst>
          </p:cNvPr>
          <p:cNvSpPr/>
          <p:nvPr/>
        </p:nvSpPr>
        <p:spPr>
          <a:xfrm>
            <a:off x="-298549" y="339283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lang="en-GB" altLang="zh-CN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Fuyu Cao </a:t>
            </a:r>
            <a:r>
              <a:rPr lang="zh-CN" altLang="en-GB" sz="1400" b="1" dirty="0">
                <a:latin typeface="Calibri" pitchFamily="34" charset="0"/>
                <a:cs typeface="Calibri" pitchFamily="34" charset="-120"/>
              </a:rPr>
              <a:t>，</a:t>
            </a:r>
            <a:r>
              <a:rPr lang="en-GB" altLang="zh-CN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Luxiao Cao</a:t>
            </a:r>
            <a:r>
              <a:rPr lang="zh-CN" altLang="en-GB" sz="1400" b="1" dirty="0">
                <a:latin typeface="Calibri" pitchFamily="34" charset="0"/>
                <a:cs typeface="Calibri" pitchFamily="34" charset="-120"/>
              </a:rPr>
              <a:t>，</a:t>
            </a:r>
            <a:r>
              <a:rPr lang="en-GB" altLang="zh-CN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Detai Dong</a:t>
            </a:r>
            <a:r>
              <a:rPr lang="zh-CN" altLang="en-GB" sz="1400" b="1" dirty="0">
                <a:latin typeface="Calibri" pitchFamily="34" charset="0"/>
                <a:cs typeface="Calibri" pitchFamily="34" charset="-120"/>
              </a:rPr>
              <a:t>，</a:t>
            </a:r>
            <a:r>
              <a:rPr lang="en-GB" altLang="zh-CN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Akshansh Rajora</a:t>
            </a:r>
            <a:r>
              <a:rPr lang="zh-CN" altLang="en-GB" sz="1400" b="1" dirty="0">
                <a:latin typeface="Calibri" pitchFamily="34" charset="0"/>
                <a:cs typeface="Calibri" pitchFamily="34" charset="-120"/>
              </a:rPr>
              <a:t>，</a:t>
            </a:r>
            <a:r>
              <a:rPr lang="en-GB" altLang="zh-CN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Tianwei Yu</a:t>
            </a:r>
          </a:p>
        </p:txBody>
      </p:sp>
      <p:pic>
        <p:nvPicPr>
          <p:cNvPr id="11" name="图片 10" descr="2003-logo-red-1000x1000_副本">
            <a:extLst>
              <a:ext uri="{FF2B5EF4-FFF2-40B4-BE49-F238E27FC236}">
                <a16:creationId xmlns:a16="http://schemas.microsoft.com/office/drawing/2014/main" id="{15BC1EF2-FD52-A935-64E4-A927642DCA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833" t="34833" r="11565" b="37454"/>
          <a:stretch>
            <a:fillRect/>
          </a:stretch>
        </p:blipFill>
        <p:spPr>
          <a:xfrm>
            <a:off x="3175" y="4155122"/>
            <a:ext cx="2682875" cy="97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933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 descr="921a026d-0345-47eb-b62e-2808c0a4e7ba">
            <a:extLst>
              <a:ext uri="{FF2B5EF4-FFF2-40B4-BE49-F238E27FC236}">
                <a16:creationId xmlns:a16="http://schemas.microsoft.com/office/drawing/2014/main" id="{4F016753-FD7C-1A83-C4C0-CABB3DB8BCD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000"/>
                    </a14:imgEffect>
                    <a14:imgEffect>
                      <a14:saturation sat="1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2603"/>
            <a:ext cx="9144000" cy="5120897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D7462613-3229-56E5-CDEC-DB75EAF35DA5}"/>
              </a:ext>
            </a:extLst>
          </p:cNvPr>
          <p:cNvGrpSpPr/>
          <p:nvPr/>
        </p:nvGrpSpPr>
        <p:grpSpPr>
          <a:xfrm>
            <a:off x="1321404" y="1280103"/>
            <a:ext cx="6750681" cy="517979"/>
            <a:chOff x="1001257" y="2895728"/>
            <a:chExt cx="6961622" cy="555118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48494C69-8B97-39A6-A7C5-0E4681139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1132" y="2895728"/>
              <a:ext cx="6101747" cy="540000"/>
            </a:xfrm>
            <a:prstGeom prst="rect">
              <a:avLst/>
            </a:prstGeom>
            <a:grpFill/>
            <a:ln w="9525" algn="ctr">
              <a:noFill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81000" tIns="0" rIns="0" bIns="0" anchor="ctr"/>
            <a:lstStyle>
              <a:defPPr>
                <a:defRPr lang="zh-CN"/>
              </a:defPPr>
              <a:lvl1pPr marL="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989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79145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69035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58925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4818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33807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2796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17215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15000"/>
                </a:lnSpc>
                <a:defRPr/>
              </a:pPr>
              <a:r>
                <a:rPr lang="en-US" sz="1600" b="1" dirty="0">
                  <a:solidFill>
                    <a:schemeClr val="accent6">
                      <a:lumMod val="75000"/>
                    </a:schemeClr>
                  </a:solidFill>
                  <a:latin typeface="Aptos"/>
                </a:rPr>
                <a:t>Background and Problem</a:t>
              </a: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01F8CD4-8B2B-E581-EC15-2EB01B954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1257" y="2910846"/>
              <a:ext cx="618292" cy="540000"/>
            </a:xfrm>
            <a:prstGeom prst="rect">
              <a:avLst/>
            </a:prstGeom>
            <a:grpFill/>
            <a:ln w="9525" algn="ctr">
              <a:noFill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989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79145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69035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58925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4818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33807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2796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17215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514350">
                <a:lnSpc>
                  <a:spcPct val="115000"/>
                </a:lnSpc>
                <a:defRPr/>
              </a:pPr>
              <a:r>
                <a:rPr lang="en-US" sz="1600" b="1" dirty="0">
                  <a:solidFill>
                    <a:schemeClr val="accent6">
                      <a:lumMod val="75000"/>
                    </a:schemeClr>
                  </a:solidFill>
                  <a:latin typeface="Aptos"/>
                </a:rPr>
                <a:t>1</a:t>
              </a:r>
              <a:endParaRPr lang="en-US" sz="1600" b="1" kern="0" dirty="0">
                <a:solidFill>
                  <a:schemeClr val="accent6">
                    <a:lumMod val="75000"/>
                  </a:schemeClr>
                </a:solidFill>
                <a:latin typeface="Aptos"/>
                <a:ea typeface="微软雅黑" panose="020B0502040204020203" charset="-122"/>
                <a:cs typeface="Arial" panose="020B060402020209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DDFDDA7C-EB43-EF5D-73FB-BDBD259D6913}"/>
              </a:ext>
            </a:extLst>
          </p:cNvPr>
          <p:cNvGrpSpPr/>
          <p:nvPr/>
        </p:nvGrpSpPr>
        <p:grpSpPr>
          <a:xfrm>
            <a:off x="1321404" y="2020501"/>
            <a:ext cx="6750750" cy="503873"/>
            <a:chOff x="1001257" y="2910846"/>
            <a:chExt cx="6961693" cy="540001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86C167B-C266-E5CB-2EC9-5D08BA292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1203" y="2910847"/>
              <a:ext cx="6101747" cy="540000"/>
            </a:xfrm>
            <a:prstGeom prst="rect">
              <a:avLst/>
            </a:prstGeom>
            <a:grpFill/>
            <a:ln w="9525" algn="ctr">
              <a:noFill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81000" tIns="0" rIns="0" bIns="0" anchor="ctr"/>
            <a:lstStyle>
              <a:defPPr>
                <a:defRPr lang="zh-CN"/>
              </a:defPPr>
              <a:lvl1pPr marL="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989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79145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69035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58925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4818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33807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2796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17215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15000"/>
                </a:lnSpc>
                <a:defRPr/>
              </a:pPr>
              <a:r>
                <a:rPr lang="en-US" sz="1600" b="1" dirty="0">
                  <a:solidFill>
                    <a:schemeClr val="accent6">
                      <a:lumMod val="75000"/>
                    </a:schemeClr>
                  </a:solidFill>
                  <a:latin typeface="Aptos"/>
                </a:rPr>
                <a:t>Users, Market Need and Our Solution</a:t>
              </a:r>
              <a:endParaRPr lang="en-US" sz="1600" b="1" kern="0" dirty="0">
                <a:solidFill>
                  <a:schemeClr val="accent6">
                    <a:lumMod val="75000"/>
                  </a:schemeClr>
                </a:solidFill>
                <a:latin typeface="Aptos"/>
                <a:ea typeface="微软雅黑" panose="020B0502040204020203" charset="-122"/>
                <a:cs typeface="Arial" panose="020B0604020202090204" pitchFamily="34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3FD7177-193A-8407-F695-A0D5ED5A5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1257" y="2910846"/>
              <a:ext cx="618292" cy="540000"/>
            </a:xfrm>
            <a:prstGeom prst="rect">
              <a:avLst/>
            </a:prstGeom>
            <a:grpFill/>
            <a:ln w="9525" algn="ctr">
              <a:noFill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989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79145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69035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58925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4818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33807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2796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17215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514350">
                <a:lnSpc>
                  <a:spcPct val="115000"/>
                </a:lnSpc>
                <a:defRPr/>
              </a:pPr>
              <a:r>
                <a:rPr lang="en-US" sz="1600" b="1" dirty="0">
                  <a:solidFill>
                    <a:srgbClr val="387A54"/>
                  </a:solidFill>
                  <a:latin typeface="Aptos"/>
                </a:rPr>
                <a:t>2</a:t>
              </a:r>
              <a:endParaRPr lang="en-US" sz="1600" b="1" kern="0" dirty="0">
                <a:solidFill>
                  <a:srgbClr val="387A54"/>
                </a:solidFill>
                <a:latin typeface="Aptos"/>
                <a:ea typeface="微软雅黑" panose="020B0502040204020203" charset="-122"/>
                <a:cs typeface="Arial" panose="020B060402020209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D73FF1E3-8FE5-02CA-3DAF-623C69A26DCC}"/>
              </a:ext>
            </a:extLst>
          </p:cNvPr>
          <p:cNvGrpSpPr/>
          <p:nvPr/>
        </p:nvGrpSpPr>
        <p:grpSpPr>
          <a:xfrm>
            <a:off x="1321404" y="3447620"/>
            <a:ext cx="6750750" cy="503873"/>
            <a:chOff x="1001257" y="2910846"/>
            <a:chExt cx="6961693" cy="540001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1B0359E-C7C1-A982-2F0F-5F4E7EBF7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1203" y="2910847"/>
              <a:ext cx="6101747" cy="540000"/>
            </a:xfrm>
            <a:prstGeom prst="rect">
              <a:avLst/>
            </a:prstGeom>
            <a:grpFill/>
            <a:ln w="9525" algn="ctr">
              <a:noFill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81000" tIns="0" rIns="0" bIns="0" anchor="ctr"/>
            <a:lstStyle>
              <a:defPPr>
                <a:defRPr lang="zh-CN"/>
              </a:defPPr>
              <a:lvl1pPr marL="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989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79145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69035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58925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4818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33807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2796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17215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15000"/>
                </a:lnSpc>
                <a:defRPr/>
              </a:pPr>
              <a:r>
                <a:rPr lang="en-US" sz="1600" b="1" dirty="0">
                  <a:solidFill>
                    <a:schemeClr val="accent6">
                      <a:lumMod val="75000"/>
                    </a:schemeClr>
                  </a:solidFill>
                  <a:latin typeface="Aptos"/>
                </a:rPr>
                <a:t>Implementation and Demonstration</a:t>
              </a:r>
              <a:endParaRPr lang="en-US" sz="1600" b="1" kern="0" dirty="0">
                <a:solidFill>
                  <a:schemeClr val="accent6">
                    <a:lumMod val="75000"/>
                  </a:schemeClr>
                </a:solidFill>
                <a:latin typeface="Aptos"/>
                <a:ea typeface="微软雅黑" panose="020B0502040204020203" charset="-122"/>
                <a:cs typeface="Arial" panose="020B0604020202090204" pitchFamily="34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5BD5A0D-2781-97B9-DA98-0CDA02545D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1257" y="2910846"/>
              <a:ext cx="618292" cy="540000"/>
            </a:xfrm>
            <a:prstGeom prst="rect">
              <a:avLst/>
            </a:prstGeom>
            <a:grpFill/>
            <a:ln w="9525" algn="ctr">
              <a:noFill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989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79145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69035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58925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4818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33807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2796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17215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514350">
                <a:lnSpc>
                  <a:spcPct val="115000"/>
                </a:lnSpc>
                <a:defRPr/>
              </a:pPr>
              <a:r>
                <a:rPr lang="en-US" sz="1600" b="1">
                  <a:solidFill>
                    <a:srgbClr val="387A54"/>
                  </a:solidFill>
                  <a:latin typeface="Aptos"/>
                </a:rPr>
                <a:t>4</a:t>
              </a:r>
              <a:endParaRPr lang="en-US" sz="1600" b="1" kern="0" dirty="0">
                <a:solidFill>
                  <a:srgbClr val="387A54"/>
                </a:solidFill>
                <a:latin typeface="Aptos"/>
                <a:ea typeface="微软雅黑" panose="020B0502040204020203" charset="-122"/>
                <a:cs typeface="Arial" panose="020B0604020202090204" pitchFamily="34" charset="0"/>
              </a:endParaRPr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62A3276C-7F07-5951-02A3-2B0BEA716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1404" y="2734060"/>
            <a:ext cx="599599" cy="5038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defPPr>
              <a:defRPr lang="zh-CN"/>
            </a:defPPr>
            <a:lvl1pPr marL="0" algn="l" defTabSz="779145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9890" algn="l" defTabSz="779145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9145" algn="l" defTabSz="779145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9035" algn="l" defTabSz="779145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8925" algn="l" defTabSz="779145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48180" algn="l" defTabSz="779145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38070" algn="l" defTabSz="779145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27960" algn="l" defTabSz="779145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17215" algn="l" defTabSz="779145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14350">
              <a:defRPr/>
            </a:pPr>
            <a:endParaRPr lang="en-US" sz="1200" b="1" dirty="0">
              <a:solidFill>
                <a:srgbClr val="387A54"/>
              </a:solidFill>
              <a:latin typeface="Aptos"/>
              <a:sym typeface="+mn-ea"/>
            </a:endParaRPr>
          </a:p>
          <a:p>
            <a:pPr algn="ctr" defTabSz="514350">
              <a:defRPr/>
            </a:pP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Aptos"/>
                <a:sym typeface="+mn-ea"/>
              </a:rPr>
              <a:t>3</a:t>
            </a:r>
            <a:endParaRPr lang="en-US" sz="1600" b="1" dirty="0">
              <a:solidFill>
                <a:schemeClr val="accent6">
                  <a:lumMod val="75000"/>
                </a:schemeClr>
              </a:solidFill>
              <a:latin typeface="Aptos"/>
            </a:endParaRPr>
          </a:p>
          <a:p>
            <a:pPr algn="ctr" defTabSz="514350">
              <a:defRPr/>
            </a:pPr>
            <a:endParaRPr lang="en-US" altLang="zh-CN" sz="1200" b="1" kern="0" dirty="0">
              <a:latin typeface="微软雅黑" panose="020B0502040204020203" charset="-122"/>
              <a:ea typeface="微软雅黑" panose="020B0502040204020203" charset="-122"/>
              <a:cs typeface="Arial" panose="020B060402020209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22ADDE1-FC14-1386-EBBC-AA1F57F83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5224" y="2734061"/>
            <a:ext cx="5916930" cy="5038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1000" tIns="0" rIns="0" bIns="0" anchor="ctr"/>
          <a:lstStyle>
            <a:defPPr>
              <a:defRPr lang="zh-CN"/>
            </a:defPPr>
            <a:lvl1pPr marL="0" algn="l" defTabSz="779145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9890" algn="l" defTabSz="779145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9145" algn="l" defTabSz="779145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9035" algn="l" defTabSz="779145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8925" algn="l" defTabSz="779145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48180" algn="l" defTabSz="779145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38070" algn="l" defTabSz="779145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27960" algn="l" defTabSz="779145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17215" algn="l" defTabSz="779145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defRPr/>
            </a:pP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Aptos"/>
                <a:sym typeface="+mn-ea"/>
              </a:rPr>
              <a:t>System Design and Key Features</a:t>
            </a:r>
            <a:endParaRPr lang="en-US" altLang="zh-CN" sz="1600" b="1" kern="0" dirty="0">
              <a:solidFill>
                <a:schemeClr val="accent6">
                  <a:lumMod val="75000"/>
                </a:schemeClr>
              </a:solidFill>
              <a:latin typeface="微软雅黑" panose="020B0502040204020203" charset="-122"/>
              <a:ea typeface="微软雅黑" panose="020B0502040204020203" charset="-122"/>
              <a:cs typeface="Arial" panose="020B0604020202090204" pitchFamily="34" charset="0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C27E056-E3F1-7608-AF72-4798186D4951}"/>
              </a:ext>
            </a:extLst>
          </p:cNvPr>
          <p:cNvGrpSpPr/>
          <p:nvPr/>
        </p:nvGrpSpPr>
        <p:grpSpPr>
          <a:xfrm>
            <a:off x="1321446" y="4173913"/>
            <a:ext cx="6750708" cy="503872"/>
            <a:chOff x="1001300" y="2910847"/>
            <a:chExt cx="6961650" cy="540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B82A6F05-726F-DF9C-8872-7B2B58B6B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1203" y="2910847"/>
              <a:ext cx="6101747" cy="540000"/>
            </a:xfrm>
            <a:prstGeom prst="rect">
              <a:avLst/>
            </a:prstGeom>
            <a:grpFill/>
            <a:ln w="9525" algn="ctr">
              <a:noFill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81000" tIns="0" rIns="0" bIns="0" anchor="ctr"/>
            <a:lstStyle>
              <a:defPPr>
                <a:defRPr lang="zh-CN"/>
              </a:defPPr>
              <a:lvl1pPr marL="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989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79145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69035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58925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4818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33807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2796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17215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15000"/>
                </a:lnSpc>
                <a:defRPr/>
              </a:pPr>
              <a:r>
                <a:rPr lang="en-US" sz="1600" b="1" dirty="0">
                  <a:solidFill>
                    <a:schemeClr val="accent6">
                      <a:lumMod val="75000"/>
                    </a:schemeClr>
                  </a:solidFill>
                  <a:latin typeface="Aptos"/>
                </a:rPr>
                <a:t>Evaluation, Reflection and Possible Improvements</a:t>
              </a:r>
              <a:endParaRPr lang="en-US" sz="1600" b="1" kern="0" dirty="0">
                <a:solidFill>
                  <a:schemeClr val="accent6">
                    <a:lumMod val="75000"/>
                  </a:schemeClr>
                </a:solidFill>
                <a:latin typeface="Aptos"/>
                <a:ea typeface="微软雅黑" panose="020B0502040204020203" charset="-122"/>
                <a:cs typeface="Arial" panose="020B0604020202090204" pitchFamily="34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778477A-4EAE-5000-669F-6CED195FC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1300" y="2910847"/>
              <a:ext cx="618292" cy="540000"/>
            </a:xfrm>
            <a:prstGeom prst="rect">
              <a:avLst/>
            </a:prstGeom>
            <a:grpFill/>
            <a:ln w="9525" algn="ctr">
              <a:noFill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989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79145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69035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58925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4818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33807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27960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17215" algn="l" defTabSz="77914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514350">
                <a:lnSpc>
                  <a:spcPct val="115000"/>
                </a:lnSpc>
                <a:defRPr/>
              </a:pPr>
              <a:endParaRPr lang="en-US" sz="1600" b="1">
                <a:solidFill>
                  <a:srgbClr val="387A54"/>
                </a:solidFill>
                <a:latin typeface="Aptos"/>
                <a:sym typeface="+mn-ea"/>
              </a:endParaRPr>
            </a:p>
            <a:p>
              <a:pPr algn="ctr" defTabSz="514350">
                <a:lnSpc>
                  <a:spcPct val="115000"/>
                </a:lnSpc>
                <a:defRPr/>
              </a:pPr>
              <a:r>
                <a:rPr lang="en-US" sz="1600" b="1">
                  <a:solidFill>
                    <a:srgbClr val="387A54"/>
                  </a:solidFill>
                  <a:latin typeface="Aptos"/>
                  <a:sym typeface="+mn-ea"/>
                </a:rPr>
                <a:t>5</a:t>
              </a:r>
              <a:endParaRPr lang="en-US" sz="1600" b="1" kern="0" dirty="0">
                <a:solidFill>
                  <a:srgbClr val="387A54"/>
                </a:solidFill>
                <a:latin typeface="Aptos"/>
                <a:ea typeface="微软雅黑" panose="020B0502040204020203" charset="-122"/>
                <a:cs typeface="Arial" panose="020B0604020202090204" pitchFamily="34" charset="0"/>
              </a:endParaRPr>
            </a:p>
            <a:p>
              <a:pPr algn="ctr" defTabSz="514350">
                <a:lnSpc>
                  <a:spcPct val="115000"/>
                </a:lnSpc>
                <a:defRPr/>
              </a:pPr>
              <a:endParaRPr lang="en-US" altLang="zh-CN" sz="1600" b="1" kern="0" dirty="0">
                <a:latin typeface="微软雅黑" panose="020B0502040204020203" charset="-122"/>
                <a:ea typeface="微软雅黑" panose="020B0502040204020203" charset="-122"/>
                <a:cs typeface="Arial" panose="020B0604020202090204" pitchFamily="34" charset="0"/>
              </a:endParaRP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54F1D778-0C83-E94A-0331-DD21DA5752DB}"/>
              </a:ext>
            </a:extLst>
          </p:cNvPr>
          <p:cNvSpPr txBox="1"/>
          <p:nvPr/>
        </p:nvSpPr>
        <p:spPr>
          <a:xfrm>
            <a:off x="274418" y="251206"/>
            <a:ext cx="2233278" cy="560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sz="2800" b="1" dirty="0">
                <a:solidFill>
                  <a:schemeClr val="accent6">
                    <a:lumMod val="50000"/>
                  </a:schemeClr>
                </a:solidFill>
                <a:latin typeface="Aptos"/>
              </a:rPr>
              <a:t>CONTENTS</a:t>
            </a:r>
            <a:endParaRPr kumimoji="1" lang="zh-CN" altLang="en-US" sz="4000" b="1" spc="225" dirty="0">
              <a:solidFill>
                <a:schemeClr val="accent6">
                  <a:lumMod val="50000"/>
                </a:schemeClr>
              </a:solidFill>
              <a:latin typeface="Times New Roman" panose="02020503050405090304" charset="0"/>
              <a:ea typeface="微软雅黑" panose="020B0502040204020203" charset="-122"/>
              <a:cs typeface="Times New Roman" panose="0202050305040509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892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8C6E18-3275-D7A7-4328-823236460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921a026d-0345-47eb-b62e-2808c0a4e7ba">
            <a:extLst>
              <a:ext uri="{FF2B5EF4-FFF2-40B4-BE49-F238E27FC236}">
                <a16:creationId xmlns:a16="http://schemas.microsoft.com/office/drawing/2014/main" id="{03984A01-FD62-9850-5925-DD4271CE34F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000"/>
                    </a14:imgEffect>
                    <a14:imgEffect>
                      <a14:saturation sat="1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344EC13-AD98-FC06-A112-10045B3C77F8}"/>
              </a:ext>
            </a:extLst>
          </p:cNvPr>
          <p:cNvSpPr txBox="1"/>
          <p:nvPr/>
        </p:nvSpPr>
        <p:spPr>
          <a:xfrm>
            <a:off x="1237315" y="1835303"/>
            <a:ext cx="4856159" cy="870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dirty="0">
                <a:solidFill>
                  <a:srgbClr val="174C3C"/>
                </a:solidFill>
                <a:latin typeface="Aptos"/>
              </a:rPr>
              <a:t>Project</a:t>
            </a:r>
            <a:r>
              <a:rPr sz="2100" b="1" dirty="0">
                <a:solidFill>
                  <a:srgbClr val="174C3C"/>
                </a:solidFill>
                <a:latin typeface="Aptos"/>
              </a:rPr>
              <a:t> Background</a:t>
            </a:r>
            <a:r>
              <a:rPr lang="en-US" sz="2100" b="1" dirty="0">
                <a:solidFill>
                  <a:srgbClr val="174C3C"/>
                </a:solidFill>
                <a:latin typeface="Aptos"/>
              </a:rPr>
              <a:t> &amp; Problems</a:t>
            </a:r>
            <a:endParaRPr sz="2100" b="1" dirty="0">
              <a:solidFill>
                <a:srgbClr val="223A2E"/>
              </a:solidFill>
              <a:latin typeface="Aptos"/>
            </a:endParaRPr>
          </a:p>
          <a:p>
            <a:pPr algn="l">
              <a:lnSpc>
                <a:spcPct val="115000"/>
              </a:lnSpc>
            </a:pPr>
            <a:endParaRPr kumimoji="1" lang="en-US" altLang="zh-CN" sz="2100" b="1" dirty="0">
              <a:solidFill>
                <a:srgbClr val="223A2E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12" name="文本框 9">
            <a:extLst>
              <a:ext uri="{FF2B5EF4-FFF2-40B4-BE49-F238E27FC236}">
                <a16:creationId xmlns:a16="http://schemas.microsoft.com/office/drawing/2014/main" id="{1519A8E2-029D-1212-BD75-2E664CD078C7}"/>
              </a:ext>
            </a:extLst>
          </p:cNvPr>
          <p:cNvSpPr txBox="1"/>
          <p:nvPr/>
        </p:nvSpPr>
        <p:spPr>
          <a:xfrm>
            <a:off x="426469" y="1835303"/>
            <a:ext cx="1234440" cy="496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lnSpc>
                <a:spcPct val="115000"/>
              </a:lnSpc>
              <a:defRPr/>
            </a:pPr>
            <a:r>
              <a:rPr sz="2400" b="1" dirty="0">
                <a:solidFill>
                  <a:srgbClr val="174C3C"/>
                </a:solidFill>
                <a:latin typeface="Aptos"/>
              </a:rPr>
              <a:t>01</a:t>
            </a:r>
            <a:endParaRPr lang="en-US" altLang="zh-CN" sz="2100" b="1" dirty="0">
              <a:latin typeface="Aptos"/>
              <a:cs typeface="+mn-ea"/>
              <a:sym typeface="+mn-lt"/>
            </a:endParaRPr>
          </a:p>
        </p:txBody>
      </p:sp>
      <p:pic>
        <p:nvPicPr>
          <p:cNvPr id="13" name="图片 12" descr="2003-logo-red-1000x1000_副本">
            <a:extLst>
              <a:ext uri="{FF2B5EF4-FFF2-40B4-BE49-F238E27FC236}">
                <a16:creationId xmlns:a16="http://schemas.microsoft.com/office/drawing/2014/main" id="{FB257974-D454-80FA-DC3B-26405B690CF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833" t="34833" r="11565" b="37454"/>
          <a:stretch>
            <a:fillRect/>
          </a:stretch>
        </p:blipFill>
        <p:spPr>
          <a:xfrm>
            <a:off x="-104123" y="-53264"/>
            <a:ext cx="2682875" cy="97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931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74000">
              <a:schemeClr val="accent6">
                <a:lumMod val="40000"/>
                <a:lumOff val="60000"/>
              </a:schemeClr>
            </a:gs>
            <a:gs pos="83000">
              <a:schemeClr val="accent6">
                <a:lumMod val="60000"/>
                <a:lumOff val="40000"/>
              </a:schemeClr>
            </a:gs>
            <a:gs pos="100000">
              <a:schemeClr val="accent6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110010AC-655E-9399-E9E6-90A8DAF17D31}"/>
              </a:ext>
            </a:extLst>
          </p:cNvPr>
          <p:cNvSpPr/>
          <p:nvPr/>
        </p:nvSpPr>
        <p:spPr>
          <a:xfrm>
            <a:off x="-26802" y="45"/>
            <a:ext cx="9335910" cy="594360"/>
          </a:xfrm>
          <a:prstGeom prst="rect">
            <a:avLst/>
          </a:prstGeom>
          <a:solidFill>
            <a:schemeClr val="accent3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86868" y="649874"/>
            <a:ext cx="4384548" cy="261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1400" b="1" dirty="0">
                <a:solidFill>
                  <a:srgbClr val="223A2E"/>
                </a:solidFill>
                <a:latin typeface="Aptos" panose="020B0004020202020204" pitchFamily="34" charset="0"/>
              </a:rPr>
              <a:t>1.1  </a:t>
            </a:r>
            <a:r>
              <a:rPr kumimoji="1" lang="en-US" altLang="zh-CN" sz="1400" b="1" dirty="0">
                <a:latin typeface="Aptos" panose="020B0004020202020204" pitchFamily="34" charset="0"/>
                <a:ea typeface="微软雅黑" panose="020B0502040204020203" charset="-122"/>
                <a:cs typeface="Times New Roman" panose="02020503050405090304" charset="0"/>
              </a:rPr>
              <a:t>Background, Problem and What We Learned</a:t>
            </a:r>
          </a:p>
        </p:txBody>
      </p:sp>
      <p:sp>
        <p:nvSpPr>
          <p:cNvPr id="3" name="Shape 1"/>
          <p:cNvSpPr/>
          <p:nvPr/>
        </p:nvSpPr>
        <p:spPr>
          <a:xfrm>
            <a:off x="274320" y="992124"/>
            <a:ext cx="2560320" cy="33832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D8F3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🌿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228600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2130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topic matters</a:t>
            </a:r>
          </a:p>
        </p:txBody>
      </p:sp>
      <p:sp>
        <p:nvSpPr>
          <p:cNvPr id="7" name="Text 5"/>
          <p:cNvSpPr/>
          <p:nvPr/>
        </p:nvSpPr>
        <p:spPr>
          <a:xfrm>
            <a:off x="672084" y="2651760"/>
            <a:ext cx="1805940" cy="11567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claims</a:t>
            </a: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 compliance</a:t>
            </a: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gap</a:t>
            </a:r>
          </a:p>
        </p:txBody>
      </p:sp>
      <p:sp>
        <p:nvSpPr>
          <p:cNvPr id="8" name="Shape 6"/>
          <p:cNvSpPr/>
          <p:nvPr/>
        </p:nvSpPr>
        <p:spPr>
          <a:xfrm>
            <a:off x="3194373" y="1005840"/>
            <a:ext cx="2560320" cy="33832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D8F3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3200400" y="1143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🔒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337560" y="1920240"/>
            <a:ext cx="228600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3182319" y="2137410"/>
            <a:ext cx="256032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zh-CN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Core problem</a:t>
            </a:r>
            <a:endParaRPr lang="en-US" altLang="zh-CN" sz="1300" b="1" dirty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552444" y="2807208"/>
            <a:ext cx="1787652" cy="110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Low public trust</a:t>
            </a:r>
            <a:endParaRPr lang="en-US" altLang="zh-CN" sz="115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Centralised databases</a:t>
            </a:r>
            <a:endParaRPr lang="en-US" altLang="zh-CN" sz="115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Limited transparency</a:t>
            </a:r>
            <a:endParaRPr lang="en-US" altLang="zh-CN" sz="115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22986" y="1014984"/>
            <a:ext cx="2560320" cy="33832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D8F3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6035040" y="1143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6172200" y="1920240"/>
            <a:ext cx="228600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6035040" y="2377394"/>
            <a:ext cx="2560320" cy="2286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zh-CN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What we learned</a:t>
            </a:r>
            <a:endParaRPr lang="en-US" altLang="zh-CN" sz="1300" b="1" dirty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5644" y="2651760"/>
            <a:ext cx="2208276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1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DApps</a:t>
            </a:r>
            <a:r>
              <a:rPr lang="en-US" altLang="zh-CN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 for trust</a:t>
            </a:r>
            <a:endParaRPr lang="en-US" altLang="zh-CN" sz="115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Smart contracts for records</a:t>
            </a:r>
            <a:endParaRPr lang="en-US" altLang="zh-CN" sz="115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Blockchain for auditability</a:t>
            </a:r>
            <a:endParaRPr lang="en-US" altLang="zh-CN" sz="115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DC7588F-E115-8DC3-698B-F955514C7C4B}"/>
              </a:ext>
            </a:extLst>
          </p:cNvPr>
          <p:cNvSpPr/>
          <p:nvPr/>
        </p:nvSpPr>
        <p:spPr>
          <a:xfrm>
            <a:off x="1619940" y="4151"/>
            <a:ext cx="1214700" cy="5619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EB35A33-575E-4F31-E49E-7E8D9E8B2E9A}"/>
              </a:ext>
            </a:extLst>
          </p:cNvPr>
          <p:cNvSpPr txBox="1"/>
          <p:nvPr/>
        </p:nvSpPr>
        <p:spPr>
          <a:xfrm>
            <a:off x="1650512" y="129499"/>
            <a:ext cx="1415024" cy="27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1. Background</a:t>
            </a:r>
            <a:endParaRPr kumimoji="1" lang="en-US" altLang="zh-CN" sz="1600" b="1" dirty="0">
              <a:solidFill>
                <a:schemeClr val="bg1"/>
              </a:solidFill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7F74052-35CC-6F8A-1269-E379ACB88C30}"/>
              </a:ext>
            </a:extLst>
          </p:cNvPr>
          <p:cNvSpPr txBox="1"/>
          <p:nvPr/>
        </p:nvSpPr>
        <p:spPr>
          <a:xfrm>
            <a:off x="3012302" y="137160"/>
            <a:ext cx="918212" cy="285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2. </a:t>
            </a:r>
            <a:r>
              <a:rPr lang="en-US" sz="1100" b="1" dirty="0">
                <a:solidFill>
                  <a:srgbClr val="5A5F63"/>
                </a:solidFill>
                <a:latin typeface="Aptos"/>
              </a:rPr>
              <a:t>Need</a:t>
            </a:r>
            <a:endParaRPr kumimoji="1" lang="en-US" sz="1100" b="1" dirty="0">
              <a:solidFill>
                <a:srgbClr val="5A5F63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563BEEE-D72E-7DB3-BC10-D8FFDCEBB772}"/>
              </a:ext>
            </a:extLst>
          </p:cNvPr>
          <p:cNvSpPr txBox="1"/>
          <p:nvPr/>
        </p:nvSpPr>
        <p:spPr>
          <a:xfrm>
            <a:off x="4332035" y="142559"/>
            <a:ext cx="918212" cy="285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3. </a:t>
            </a:r>
            <a:r>
              <a:rPr lang="en-US" sz="1100" b="1" dirty="0">
                <a:solidFill>
                  <a:srgbClr val="5A5F63"/>
                </a:solidFill>
                <a:latin typeface="Aptos"/>
              </a:rPr>
              <a:t>Design</a:t>
            </a:r>
            <a:endParaRPr kumimoji="1" lang="en-US" sz="1100" b="1" dirty="0">
              <a:solidFill>
                <a:srgbClr val="5A5F63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E1983D0-EAF2-2754-DF22-4E6E85702A8A}"/>
              </a:ext>
            </a:extLst>
          </p:cNvPr>
          <p:cNvSpPr txBox="1"/>
          <p:nvPr/>
        </p:nvSpPr>
        <p:spPr>
          <a:xfrm>
            <a:off x="5646138" y="141341"/>
            <a:ext cx="1706578" cy="277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4. </a:t>
            </a:r>
            <a:r>
              <a:rPr lang="en-US" sz="1100" b="1" dirty="0">
                <a:solidFill>
                  <a:srgbClr val="5A5F63"/>
                </a:solidFill>
                <a:latin typeface="Aptos"/>
              </a:rPr>
              <a:t>Implementation</a:t>
            </a:r>
            <a:endParaRPr kumimoji="1" lang="en-US" sz="1100" b="1" dirty="0">
              <a:solidFill>
                <a:srgbClr val="5A5F63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pic>
        <p:nvPicPr>
          <p:cNvPr id="24" name="图片 23" descr="2003-logo-red-1000x1000_副本">
            <a:extLst>
              <a:ext uri="{FF2B5EF4-FFF2-40B4-BE49-F238E27FC236}">
                <a16:creationId xmlns:a16="http://schemas.microsoft.com/office/drawing/2014/main" id="{FA90EC58-AB08-4666-317E-0A54E11E24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833" t="34833" r="11565" b="37454"/>
          <a:stretch>
            <a:fillRect/>
          </a:stretch>
        </p:blipFill>
        <p:spPr>
          <a:xfrm>
            <a:off x="0" y="-69851"/>
            <a:ext cx="1624080" cy="631825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D1C7C838-69E9-55C1-7252-488AC76CD7CC}"/>
              </a:ext>
            </a:extLst>
          </p:cNvPr>
          <p:cNvSpPr txBox="1"/>
          <p:nvPr/>
        </p:nvSpPr>
        <p:spPr>
          <a:xfrm>
            <a:off x="7288658" y="142559"/>
            <a:ext cx="1215262" cy="27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5. Conclusion</a:t>
            </a:r>
            <a:endParaRPr kumimoji="1" lang="en-US" altLang="zh-CN" sz="1600" b="1" dirty="0">
              <a:solidFill>
                <a:schemeClr val="tx1"/>
              </a:solidFill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74000">
              <a:schemeClr val="accent6">
                <a:lumMod val="40000"/>
                <a:lumOff val="60000"/>
              </a:schemeClr>
            </a:gs>
            <a:gs pos="83000">
              <a:schemeClr val="accent6">
                <a:lumMod val="60000"/>
                <a:lumOff val="40000"/>
              </a:schemeClr>
            </a:gs>
            <a:gs pos="100000">
              <a:schemeClr val="accent6">
                <a:lumMod val="50000"/>
              </a:schemeClr>
            </a:gs>
          </a:gsLst>
          <a:lin ang="6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7C9C5C-A838-836A-672F-4ED7B0E80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10C8AF8D-9943-2F11-AD78-0D1631375A09}"/>
              </a:ext>
            </a:extLst>
          </p:cNvPr>
          <p:cNvSpPr/>
          <p:nvPr/>
        </p:nvSpPr>
        <p:spPr>
          <a:xfrm>
            <a:off x="-26802" y="45"/>
            <a:ext cx="9335910" cy="594360"/>
          </a:xfrm>
          <a:prstGeom prst="rect">
            <a:avLst/>
          </a:prstGeom>
          <a:solidFill>
            <a:schemeClr val="accent3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E8798CA4-A030-F07C-3EC0-80A9A2531165}"/>
              </a:ext>
            </a:extLst>
          </p:cNvPr>
          <p:cNvSpPr/>
          <p:nvPr/>
        </p:nvSpPr>
        <p:spPr>
          <a:xfrm>
            <a:off x="86868" y="649874"/>
            <a:ext cx="4384548" cy="261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altLang="zh-CN" sz="1400" b="1" dirty="0">
                <a:solidFill>
                  <a:srgbClr val="223A2E"/>
                </a:solidFill>
                <a:latin typeface="Aptos" panose="020B0004020202020204" pitchFamily="34" charset="0"/>
              </a:rPr>
              <a:t>1.2  </a:t>
            </a:r>
            <a:r>
              <a:rPr kumimoji="1" lang="en-US" altLang="zh-CN" sz="1400" b="1" dirty="0">
                <a:latin typeface="Aptos" panose="020B0004020202020204" pitchFamily="34" charset="0"/>
                <a:ea typeface="微软雅黑" panose="020B0502040204020203" charset="-122"/>
                <a:cs typeface="Times New Roman" panose="02020503050405090304" charset="0"/>
              </a:rPr>
              <a:t>Key Insight and Project Motivation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9323211-00C4-A80F-E1F5-E500D75F4CD6}"/>
              </a:ext>
            </a:extLst>
          </p:cNvPr>
          <p:cNvSpPr/>
          <p:nvPr/>
        </p:nvSpPr>
        <p:spPr>
          <a:xfrm>
            <a:off x="253919" y="1005840"/>
            <a:ext cx="2560320" cy="33832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D8F3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863E7D6-0285-D1FB-DE48-D25A28D5407F}"/>
              </a:ext>
            </a:extLst>
          </p:cNvPr>
          <p:cNvSpPr/>
          <p:nvPr/>
        </p:nvSpPr>
        <p:spPr>
          <a:xfrm>
            <a:off x="365760" y="1143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🌿</a:t>
            </a:r>
            <a:endParaRPr lang="en-US" sz="3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205AE83-9C89-1BED-000C-A91CE562EA65}"/>
              </a:ext>
            </a:extLst>
          </p:cNvPr>
          <p:cNvSpPr/>
          <p:nvPr/>
        </p:nvSpPr>
        <p:spPr>
          <a:xfrm>
            <a:off x="365760" y="1920240"/>
            <a:ext cx="228600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CA7B0FA-066B-9A09-E498-F8B509B0A698}"/>
              </a:ext>
            </a:extLst>
          </p:cNvPr>
          <p:cNvSpPr/>
          <p:nvPr/>
        </p:nvSpPr>
        <p:spPr>
          <a:xfrm>
            <a:off x="393192" y="20574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lang="en-US" altLang="zh-CN" sz="1400" b="1" dirty="0">
                <a:solidFill>
                  <a:srgbClr val="387A54"/>
                </a:solidFill>
                <a:latin typeface="Aptos"/>
              </a:rPr>
              <a:t>KEY INSIGHT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1410367-293B-1AA8-953C-6DD5A9653BFF}"/>
              </a:ext>
            </a:extLst>
          </p:cNvPr>
          <p:cNvSpPr/>
          <p:nvPr/>
        </p:nvSpPr>
        <p:spPr>
          <a:xfrm>
            <a:off x="548640" y="2697480"/>
            <a:ext cx="1929384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1200" dirty="0">
                <a:latin typeface="Aptos"/>
              </a:rPr>
              <a:t>Verifiable product data</a:t>
            </a:r>
          </a:p>
          <a:p>
            <a:pPr marL="171450" indent="-17145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1200" dirty="0">
                <a:latin typeface="Aptos"/>
              </a:rPr>
              <a:t>Public accountability</a:t>
            </a:r>
          </a:p>
          <a:p>
            <a:pPr marL="171450" indent="-17145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1200" dirty="0">
                <a:latin typeface="Aptos"/>
              </a:rPr>
              <a:t>Tamper-evident records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6BFC780-AD39-62FE-84F4-1F4003D1D8E2}"/>
              </a:ext>
            </a:extLst>
          </p:cNvPr>
          <p:cNvSpPr/>
          <p:nvPr/>
        </p:nvSpPr>
        <p:spPr>
          <a:xfrm>
            <a:off x="3160914" y="1005840"/>
            <a:ext cx="2560320" cy="33832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D8F3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95C645C-65D4-B286-6A8D-0AF33B468E61}"/>
              </a:ext>
            </a:extLst>
          </p:cNvPr>
          <p:cNvSpPr/>
          <p:nvPr/>
        </p:nvSpPr>
        <p:spPr>
          <a:xfrm>
            <a:off x="3200400" y="1143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🔒</a:t>
            </a:r>
            <a:endParaRPr lang="en-US" sz="3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98BD5F9-FEEC-0046-764A-2F04B1B9CF72}"/>
              </a:ext>
            </a:extLst>
          </p:cNvPr>
          <p:cNvSpPr/>
          <p:nvPr/>
        </p:nvSpPr>
        <p:spPr>
          <a:xfrm>
            <a:off x="3337560" y="1920240"/>
            <a:ext cx="228600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46A2322-CF47-438D-0886-879ED2D3FF24}"/>
              </a:ext>
            </a:extLst>
          </p:cNvPr>
          <p:cNvSpPr/>
          <p:nvPr/>
        </p:nvSpPr>
        <p:spPr>
          <a:xfrm>
            <a:off x="3182319" y="2137410"/>
            <a:ext cx="2560320" cy="4686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lang="en-US" altLang="zh-CN" sz="1400" b="1" dirty="0">
                <a:solidFill>
                  <a:srgbClr val="387A54"/>
                </a:solidFill>
                <a:latin typeface="Aptos"/>
              </a:rPr>
              <a:t>LECTURE INSPIRATION</a:t>
            </a:r>
            <a:endParaRPr kumimoji="1" lang="en-US" altLang="zh-CN" sz="1400" b="1" dirty="0">
              <a:solidFill>
                <a:srgbClr val="387A54"/>
              </a:solidFill>
              <a:latin typeface="Aptos"/>
              <a:ea typeface="微软雅黑" panose="020B0502040204020203" charset="-122"/>
              <a:cs typeface="Arial" panose="020B0604020202090204" pitchFamily="34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4087E19-1B15-5B40-5757-C434F002C7DD}"/>
              </a:ext>
            </a:extLst>
          </p:cNvPr>
          <p:cNvSpPr/>
          <p:nvPr/>
        </p:nvSpPr>
        <p:spPr>
          <a:xfrm>
            <a:off x="3423424" y="2960370"/>
            <a:ext cx="2200136" cy="89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1200" kern="0" dirty="0">
                <a:ln w="3175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Aptos" panose="020B0004020202020204" pitchFamily="34" charset="0"/>
                <a:ea typeface="微软雅黑 Light" panose="020B0502040204020203" charset="-122"/>
                <a:sym typeface="+mn-ea"/>
              </a:rPr>
              <a:t>Provider vs signer</a:t>
            </a:r>
          </a:p>
          <a:p>
            <a:pPr marL="171450" indent="-17145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1200" kern="0" dirty="0">
                <a:ln w="3175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Aptos" panose="020B0004020202020204" pitchFamily="34" charset="0"/>
                <a:ea typeface="微软雅黑 Light" panose="020B0502040204020203" charset="-122"/>
                <a:sym typeface="+mn-ea"/>
              </a:rPr>
              <a:t>Wallet-based write actions</a:t>
            </a:r>
          </a:p>
          <a:p>
            <a:pPr marL="171450" indent="-17145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1200" kern="0" dirty="0">
                <a:ln w="3175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Aptos" panose="020B0004020202020204" pitchFamily="34" charset="0"/>
                <a:ea typeface="微软雅黑 Light" panose="020B0502040204020203" charset="-122"/>
                <a:sym typeface="+mn-ea"/>
              </a:rPr>
              <a:t>Public read access</a:t>
            </a:r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9292970-CF63-6D32-2826-08FA5414CF31}"/>
              </a:ext>
            </a:extLst>
          </p:cNvPr>
          <p:cNvSpPr/>
          <p:nvPr/>
        </p:nvSpPr>
        <p:spPr>
          <a:xfrm>
            <a:off x="6022986" y="1014984"/>
            <a:ext cx="2560320" cy="33832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D8F3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B50E8D9-07BB-77DC-5564-B41EF01CF893}"/>
              </a:ext>
            </a:extLst>
          </p:cNvPr>
          <p:cNvSpPr/>
          <p:nvPr/>
        </p:nvSpPr>
        <p:spPr>
          <a:xfrm>
            <a:off x="6035040" y="1143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F6320E2-864E-4C50-6437-8496DCDCBF7F}"/>
              </a:ext>
            </a:extLst>
          </p:cNvPr>
          <p:cNvSpPr/>
          <p:nvPr/>
        </p:nvSpPr>
        <p:spPr>
          <a:xfrm>
            <a:off x="6172200" y="1920240"/>
            <a:ext cx="228600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DF23077-1057-AE97-4B82-17A60F550593}"/>
              </a:ext>
            </a:extLst>
          </p:cNvPr>
          <p:cNvSpPr/>
          <p:nvPr/>
        </p:nvSpPr>
        <p:spPr>
          <a:xfrm>
            <a:off x="6044391" y="2276429"/>
            <a:ext cx="2560320" cy="2286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lang="en-US" altLang="zh-CN" sz="1400" b="1" dirty="0">
                <a:solidFill>
                  <a:srgbClr val="387A54"/>
                </a:solidFill>
                <a:latin typeface="Aptos"/>
              </a:rPr>
              <a:t>PROJECT MOTIVATION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60995CA-41CB-A2DF-FA0D-7A74B4730A81}"/>
              </a:ext>
            </a:extLst>
          </p:cNvPr>
          <p:cNvSpPr/>
          <p:nvPr/>
        </p:nvSpPr>
        <p:spPr>
          <a:xfrm>
            <a:off x="6172200" y="2743200"/>
            <a:ext cx="23317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1200" dirty="0">
                <a:latin typeface="Aptos"/>
              </a:rPr>
              <a:t>Practical compliance tool</a:t>
            </a:r>
          </a:p>
          <a:p>
            <a:pPr marL="171450" indent="-17145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1200" dirty="0">
                <a:latin typeface="Aptos"/>
              </a:rPr>
              <a:t>Non-blockchain user friendly</a:t>
            </a:r>
          </a:p>
          <a:p>
            <a:pPr marL="171450" indent="-17145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1200" dirty="0">
                <a:latin typeface="Aptos"/>
              </a:rPr>
              <a:t>Real market need</a:t>
            </a:r>
            <a:endParaRPr lang="en-US" altLang="zh-CN" sz="115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0370C86-421F-1718-C79A-EBA31D9B1B21}"/>
              </a:ext>
            </a:extLst>
          </p:cNvPr>
          <p:cNvSpPr/>
          <p:nvPr/>
        </p:nvSpPr>
        <p:spPr>
          <a:xfrm>
            <a:off x="1619940" y="4151"/>
            <a:ext cx="1214700" cy="5619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A4D9717-912B-B2AF-4EBC-85FA568C07B2}"/>
              </a:ext>
            </a:extLst>
          </p:cNvPr>
          <p:cNvSpPr txBox="1"/>
          <p:nvPr/>
        </p:nvSpPr>
        <p:spPr>
          <a:xfrm>
            <a:off x="1650512" y="129499"/>
            <a:ext cx="1415024" cy="27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1. Background</a:t>
            </a:r>
            <a:endParaRPr kumimoji="1" lang="en-US" altLang="zh-CN" sz="1600" b="1" dirty="0">
              <a:solidFill>
                <a:schemeClr val="bg1"/>
              </a:solidFill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B34FD61-FC45-4C03-CF4B-298C4AE15E14}"/>
              </a:ext>
            </a:extLst>
          </p:cNvPr>
          <p:cNvSpPr txBox="1"/>
          <p:nvPr/>
        </p:nvSpPr>
        <p:spPr>
          <a:xfrm>
            <a:off x="3012302" y="137160"/>
            <a:ext cx="918212" cy="285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2. </a:t>
            </a:r>
            <a:r>
              <a:rPr lang="en-US" sz="1100" b="1" dirty="0">
                <a:solidFill>
                  <a:srgbClr val="5A5F63"/>
                </a:solidFill>
                <a:latin typeface="Aptos"/>
              </a:rPr>
              <a:t>Need</a:t>
            </a:r>
            <a:endParaRPr kumimoji="1" lang="en-US" sz="1100" b="1" dirty="0">
              <a:solidFill>
                <a:srgbClr val="5A5F63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A9526D6-1F07-180A-408F-84F74357C9A5}"/>
              </a:ext>
            </a:extLst>
          </p:cNvPr>
          <p:cNvSpPr txBox="1"/>
          <p:nvPr/>
        </p:nvSpPr>
        <p:spPr>
          <a:xfrm>
            <a:off x="4332035" y="142559"/>
            <a:ext cx="918212" cy="285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3. </a:t>
            </a:r>
            <a:r>
              <a:rPr lang="en-US" sz="1100" b="1" dirty="0">
                <a:solidFill>
                  <a:srgbClr val="5A5F63"/>
                </a:solidFill>
                <a:latin typeface="Aptos"/>
              </a:rPr>
              <a:t>Design</a:t>
            </a:r>
            <a:endParaRPr kumimoji="1" lang="en-US" sz="1100" b="1" dirty="0">
              <a:solidFill>
                <a:srgbClr val="5A5F63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7A76ABE-07D0-CC39-93BF-A3D242DDCE8E}"/>
              </a:ext>
            </a:extLst>
          </p:cNvPr>
          <p:cNvSpPr txBox="1"/>
          <p:nvPr/>
        </p:nvSpPr>
        <p:spPr>
          <a:xfrm>
            <a:off x="5646138" y="141341"/>
            <a:ext cx="1706578" cy="277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4. </a:t>
            </a:r>
            <a:r>
              <a:rPr lang="en-US" sz="1100" b="1" dirty="0">
                <a:solidFill>
                  <a:srgbClr val="5A5F63"/>
                </a:solidFill>
                <a:latin typeface="Aptos"/>
              </a:rPr>
              <a:t>Implementation</a:t>
            </a:r>
            <a:endParaRPr kumimoji="1" lang="en-US" sz="1100" b="1" dirty="0">
              <a:solidFill>
                <a:srgbClr val="5A5F63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pic>
        <p:nvPicPr>
          <p:cNvPr id="24" name="图片 23" descr="2003-logo-red-1000x1000_副本">
            <a:extLst>
              <a:ext uri="{FF2B5EF4-FFF2-40B4-BE49-F238E27FC236}">
                <a16:creationId xmlns:a16="http://schemas.microsoft.com/office/drawing/2014/main" id="{0AE01EC3-7242-A75C-18DA-400A5474AC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833" t="34833" r="11565" b="37454"/>
          <a:stretch>
            <a:fillRect/>
          </a:stretch>
        </p:blipFill>
        <p:spPr>
          <a:xfrm>
            <a:off x="0" y="-69851"/>
            <a:ext cx="1624080" cy="631825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9A624635-5BF1-35D6-1FFD-3A24C41077D0}"/>
              </a:ext>
            </a:extLst>
          </p:cNvPr>
          <p:cNvSpPr txBox="1"/>
          <p:nvPr/>
        </p:nvSpPr>
        <p:spPr>
          <a:xfrm>
            <a:off x="7288658" y="142559"/>
            <a:ext cx="1215262" cy="27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5. Conclusion</a:t>
            </a:r>
            <a:endParaRPr kumimoji="1" lang="en-US" altLang="zh-CN" sz="1600" b="1" dirty="0">
              <a:solidFill>
                <a:schemeClr val="tx1"/>
              </a:solidFill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856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6F5BE-5895-3D9E-5778-1FC7C57F1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921a026d-0345-47eb-b62e-2808c0a4e7ba">
            <a:extLst>
              <a:ext uri="{FF2B5EF4-FFF2-40B4-BE49-F238E27FC236}">
                <a16:creationId xmlns:a16="http://schemas.microsoft.com/office/drawing/2014/main" id="{D4B1D070-3A6F-D498-A439-56897847050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000"/>
                    </a14:imgEffect>
                    <a14:imgEffect>
                      <a14:saturation sat="15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45"/>
            <a:ext cx="9144000" cy="5120897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D536EE43-007F-356D-E0C2-D0DCDE572928}"/>
              </a:ext>
            </a:extLst>
          </p:cNvPr>
          <p:cNvSpPr/>
          <p:nvPr/>
        </p:nvSpPr>
        <p:spPr>
          <a:xfrm>
            <a:off x="-26802" y="45"/>
            <a:ext cx="9335910" cy="594360"/>
          </a:xfrm>
          <a:prstGeom prst="rect">
            <a:avLst/>
          </a:prstGeom>
          <a:solidFill>
            <a:schemeClr val="accent3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B80FC30-7F87-1D4E-5FC5-92B36CAAA845}"/>
              </a:ext>
            </a:extLst>
          </p:cNvPr>
          <p:cNvSpPr txBox="1"/>
          <p:nvPr/>
        </p:nvSpPr>
        <p:spPr>
          <a:xfrm>
            <a:off x="1368270" y="1885038"/>
            <a:ext cx="3272883" cy="1770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2400" b="1" dirty="0">
                <a:solidFill>
                  <a:srgbClr val="223A2E"/>
                </a:solidFill>
                <a:latin typeface="Aptos"/>
              </a:rPr>
              <a:t>Users, Market Need</a:t>
            </a:r>
          </a:p>
          <a:p>
            <a:pPr algn="ctr">
              <a:lnSpc>
                <a:spcPct val="115000"/>
              </a:lnSpc>
            </a:pPr>
            <a:r>
              <a:rPr lang="en-US" altLang="zh-CN" sz="2400" b="1" dirty="0">
                <a:solidFill>
                  <a:srgbClr val="223A2E"/>
                </a:solidFill>
                <a:latin typeface="Aptos"/>
              </a:rPr>
              <a:t>&amp;</a:t>
            </a:r>
          </a:p>
          <a:p>
            <a:pPr algn="ctr">
              <a:lnSpc>
                <a:spcPct val="115000"/>
              </a:lnSpc>
            </a:pPr>
            <a:r>
              <a:rPr lang="en-US" altLang="zh-CN" sz="2400" b="1" dirty="0">
                <a:solidFill>
                  <a:srgbClr val="223A2E"/>
                </a:solidFill>
                <a:latin typeface="Aptos"/>
              </a:rPr>
              <a:t>Our Solution</a:t>
            </a:r>
          </a:p>
          <a:p>
            <a:pPr algn="ctr">
              <a:lnSpc>
                <a:spcPct val="115000"/>
              </a:lnSpc>
            </a:pPr>
            <a:endParaRPr kumimoji="1" lang="en-US" altLang="zh-CN" sz="2400" b="1" dirty="0">
              <a:solidFill>
                <a:srgbClr val="223A2E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9" name="文本框 9">
            <a:extLst>
              <a:ext uri="{FF2B5EF4-FFF2-40B4-BE49-F238E27FC236}">
                <a16:creationId xmlns:a16="http://schemas.microsoft.com/office/drawing/2014/main" id="{35891B46-DE76-BD06-EE42-40A34B9F0086}"/>
              </a:ext>
            </a:extLst>
          </p:cNvPr>
          <p:cNvSpPr txBox="1"/>
          <p:nvPr/>
        </p:nvSpPr>
        <p:spPr>
          <a:xfrm>
            <a:off x="76534" y="1885038"/>
            <a:ext cx="2070075" cy="496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400" b="1" dirty="0">
                <a:solidFill>
                  <a:schemeClr val="tx1"/>
                </a:solidFill>
                <a:latin typeface="Aptos"/>
              </a:rPr>
              <a:t>0</a:t>
            </a:r>
            <a:r>
              <a:rPr lang="en-US" sz="2400" b="1" dirty="0">
                <a:solidFill>
                  <a:schemeClr val="tx1"/>
                </a:solidFill>
                <a:latin typeface="Aptos"/>
              </a:rPr>
              <a:t>2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/>
              <a:cs typeface="+mn-ea"/>
              <a:sym typeface="+mn-lt"/>
            </a:endParaRPr>
          </a:p>
        </p:txBody>
      </p:sp>
      <p:pic>
        <p:nvPicPr>
          <p:cNvPr id="30" name="图片 29" descr="2003-logo-red-1000x1000_副本">
            <a:extLst>
              <a:ext uri="{FF2B5EF4-FFF2-40B4-BE49-F238E27FC236}">
                <a16:creationId xmlns:a16="http://schemas.microsoft.com/office/drawing/2014/main" id="{84220A86-17D2-0C5B-4118-B18EF556CDC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833" t="34833" r="11565" b="37454"/>
          <a:stretch>
            <a:fillRect/>
          </a:stretch>
        </p:blipFill>
        <p:spPr>
          <a:xfrm>
            <a:off x="-104123" y="-53264"/>
            <a:ext cx="2682875" cy="97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720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74000">
              <a:schemeClr val="accent6">
                <a:lumMod val="40000"/>
                <a:lumOff val="60000"/>
              </a:schemeClr>
            </a:gs>
            <a:gs pos="83000">
              <a:schemeClr val="accent6">
                <a:lumMod val="60000"/>
                <a:lumOff val="40000"/>
              </a:schemeClr>
            </a:gs>
            <a:gs pos="100000">
              <a:schemeClr val="accent6">
                <a:lumMod val="50000"/>
              </a:schemeClr>
            </a:gs>
          </a:gsLst>
          <a:lin ang="66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3CC607-92AD-8068-15CA-D601A5BB6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DDC0033E-EDA0-7B77-B406-5659EC40B05A}"/>
              </a:ext>
            </a:extLst>
          </p:cNvPr>
          <p:cNvSpPr/>
          <p:nvPr/>
        </p:nvSpPr>
        <p:spPr>
          <a:xfrm>
            <a:off x="-26802" y="45"/>
            <a:ext cx="9335910" cy="594360"/>
          </a:xfrm>
          <a:prstGeom prst="rect">
            <a:avLst/>
          </a:prstGeom>
          <a:solidFill>
            <a:schemeClr val="accent3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A0A66F65-C4D1-619D-24CE-BD563E098553}"/>
              </a:ext>
            </a:extLst>
          </p:cNvPr>
          <p:cNvSpPr/>
          <p:nvPr/>
        </p:nvSpPr>
        <p:spPr>
          <a:xfrm>
            <a:off x="86868" y="649874"/>
            <a:ext cx="4384548" cy="261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altLang="zh-CN" sz="1400" b="1" dirty="0">
                <a:solidFill>
                  <a:srgbClr val="174C3C"/>
                </a:solidFill>
                <a:latin typeface="Aptos"/>
              </a:rPr>
              <a:t>2.1  Who Needs EcoPassEU?</a:t>
            </a:r>
            <a:endParaRPr kumimoji="1" lang="en-US" altLang="zh-CN" sz="1600" b="1" dirty="0">
              <a:solidFill>
                <a:srgbClr val="9B1313"/>
              </a:solidFill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6EABF0C-28D3-D677-3841-FC1A8DD3D4F8}"/>
              </a:ext>
            </a:extLst>
          </p:cNvPr>
          <p:cNvSpPr/>
          <p:nvPr/>
        </p:nvSpPr>
        <p:spPr>
          <a:xfrm>
            <a:off x="2916575" y="14579"/>
            <a:ext cx="1214700" cy="5619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2406A64-D7AA-878F-B675-82F955F917B2}"/>
              </a:ext>
            </a:extLst>
          </p:cNvPr>
          <p:cNvSpPr txBox="1"/>
          <p:nvPr/>
        </p:nvSpPr>
        <p:spPr>
          <a:xfrm>
            <a:off x="1650512" y="129499"/>
            <a:ext cx="1415024" cy="27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1. Background</a:t>
            </a:r>
            <a:endParaRPr kumimoji="1" lang="en-US" altLang="zh-CN" sz="1600" b="1" dirty="0">
              <a:solidFill>
                <a:schemeClr val="bg1"/>
              </a:solidFill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4B09368-E45C-F051-2449-C3D5F35CF714}"/>
              </a:ext>
            </a:extLst>
          </p:cNvPr>
          <p:cNvSpPr txBox="1"/>
          <p:nvPr/>
        </p:nvSpPr>
        <p:spPr>
          <a:xfrm>
            <a:off x="3012302" y="137160"/>
            <a:ext cx="918212" cy="285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2. </a:t>
            </a:r>
            <a:r>
              <a:rPr lang="en-US" sz="1100" b="1" dirty="0">
                <a:solidFill>
                  <a:srgbClr val="5A5F63"/>
                </a:solidFill>
                <a:latin typeface="Aptos"/>
              </a:rPr>
              <a:t>Need</a:t>
            </a:r>
            <a:endParaRPr kumimoji="1" lang="en-US" sz="1100" b="1" dirty="0">
              <a:solidFill>
                <a:srgbClr val="5A5F63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0D2AB91-72C0-98C7-F5C4-0481D35EA785}"/>
              </a:ext>
            </a:extLst>
          </p:cNvPr>
          <p:cNvSpPr txBox="1"/>
          <p:nvPr/>
        </p:nvSpPr>
        <p:spPr>
          <a:xfrm>
            <a:off x="4332035" y="142559"/>
            <a:ext cx="918212" cy="285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3. </a:t>
            </a:r>
            <a:r>
              <a:rPr lang="en-US" sz="1100" b="1" dirty="0">
                <a:solidFill>
                  <a:srgbClr val="5A5F63"/>
                </a:solidFill>
                <a:latin typeface="Aptos"/>
              </a:rPr>
              <a:t>Design</a:t>
            </a:r>
            <a:endParaRPr kumimoji="1" lang="en-US" sz="1100" b="1" dirty="0">
              <a:solidFill>
                <a:srgbClr val="5A5F63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70D0AA5-ABF9-555B-A686-6F07B0720DB1}"/>
              </a:ext>
            </a:extLst>
          </p:cNvPr>
          <p:cNvSpPr txBox="1"/>
          <p:nvPr/>
        </p:nvSpPr>
        <p:spPr>
          <a:xfrm>
            <a:off x="5646138" y="141341"/>
            <a:ext cx="1706578" cy="277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4. </a:t>
            </a:r>
            <a:r>
              <a:rPr lang="en-US" sz="1100" b="1" dirty="0">
                <a:solidFill>
                  <a:srgbClr val="5A5F63"/>
                </a:solidFill>
                <a:latin typeface="Aptos"/>
              </a:rPr>
              <a:t>Implementation</a:t>
            </a:r>
            <a:endParaRPr kumimoji="1" lang="en-US" sz="1100" b="1" dirty="0">
              <a:solidFill>
                <a:srgbClr val="5A5F63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pic>
        <p:nvPicPr>
          <p:cNvPr id="24" name="图片 23" descr="2003-logo-red-1000x1000_副本">
            <a:extLst>
              <a:ext uri="{FF2B5EF4-FFF2-40B4-BE49-F238E27FC236}">
                <a16:creationId xmlns:a16="http://schemas.microsoft.com/office/drawing/2014/main" id="{A1646975-57BA-3AE6-2114-52279F5D8C3B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11833" t="34833" r="11565" b="37454"/>
          <a:stretch>
            <a:fillRect/>
          </a:stretch>
        </p:blipFill>
        <p:spPr>
          <a:xfrm>
            <a:off x="0" y="-69851"/>
            <a:ext cx="1624080" cy="631825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0F7FD3CC-771E-955A-4C33-CB38E5009270}"/>
              </a:ext>
            </a:extLst>
          </p:cNvPr>
          <p:cNvSpPr txBox="1"/>
          <p:nvPr/>
        </p:nvSpPr>
        <p:spPr>
          <a:xfrm>
            <a:off x="7288658" y="142559"/>
            <a:ext cx="1215262" cy="27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5. Conclusion</a:t>
            </a:r>
            <a:endParaRPr kumimoji="1" lang="en-US" altLang="zh-CN" sz="1600" b="1" dirty="0">
              <a:solidFill>
                <a:schemeClr val="tx1"/>
              </a:solidFill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cxnSp>
        <p:nvCxnSpPr>
          <p:cNvPr id="18" name="直线连接符 11">
            <a:extLst>
              <a:ext uri="{FF2B5EF4-FFF2-40B4-BE49-F238E27FC236}">
                <a16:creationId xmlns:a16="http://schemas.microsoft.com/office/drawing/2014/main" id="{545E0168-9995-F9BA-849D-D15D07F5D6CE}"/>
              </a:ext>
            </a:extLst>
          </p:cNvPr>
          <p:cNvCxnSpPr/>
          <p:nvPr/>
        </p:nvCxnSpPr>
        <p:spPr>
          <a:xfrm>
            <a:off x="126492" y="911296"/>
            <a:ext cx="5105400" cy="0"/>
          </a:xfrm>
          <a:prstGeom prst="line">
            <a:avLst/>
          </a:prstGeom>
          <a:ln w="25400">
            <a:solidFill>
              <a:srgbClr val="77C4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75">
            <a:extLst>
              <a:ext uri="{FF2B5EF4-FFF2-40B4-BE49-F238E27FC236}">
                <a16:creationId xmlns:a16="http://schemas.microsoft.com/office/drawing/2014/main" id="{F790C717-68ED-83CD-A392-96695179E88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52257" y="1027022"/>
            <a:ext cx="4068743" cy="1813714"/>
          </a:xfrm>
          <a:custGeom>
            <a:avLst/>
            <a:gdLst>
              <a:gd name="connsiteX0" fmla="*/ 28800 w 4320000"/>
              <a:gd name="connsiteY0" fmla="*/ 0 h 1980000"/>
              <a:gd name="connsiteX1" fmla="*/ 4291200 w 4320000"/>
              <a:gd name="connsiteY1" fmla="*/ 0 h 1980000"/>
              <a:gd name="connsiteX2" fmla="*/ 4320000 w 4320000"/>
              <a:gd name="connsiteY2" fmla="*/ 28800 h 1980000"/>
              <a:gd name="connsiteX3" fmla="*/ 4320000 w 4320000"/>
              <a:gd name="connsiteY3" fmla="*/ 1951200 h 1980000"/>
              <a:gd name="connsiteX4" fmla="*/ 4291200 w 4320000"/>
              <a:gd name="connsiteY4" fmla="*/ 1980000 h 1980000"/>
              <a:gd name="connsiteX5" fmla="*/ 28800 w 4320000"/>
              <a:gd name="connsiteY5" fmla="*/ 1980000 h 1980000"/>
              <a:gd name="connsiteX6" fmla="*/ 0 w 4320000"/>
              <a:gd name="connsiteY6" fmla="*/ 1951200 h 1980000"/>
              <a:gd name="connsiteX7" fmla="*/ 0 w 4320000"/>
              <a:gd name="connsiteY7" fmla="*/ 28800 h 1980000"/>
              <a:gd name="connsiteX8" fmla="*/ 28800 w 4320000"/>
              <a:gd name="connsiteY8" fmla="*/ 0 h 19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20000" h="1980000">
                <a:moveTo>
                  <a:pt x="28800" y="0"/>
                </a:moveTo>
                <a:lnTo>
                  <a:pt x="4291200" y="0"/>
                </a:lnTo>
                <a:cubicBezTo>
                  <a:pt x="4307098" y="0"/>
                  <a:pt x="4320000" y="12902"/>
                  <a:pt x="4320000" y="28800"/>
                </a:cubicBezTo>
                <a:lnTo>
                  <a:pt x="4320000" y="1951200"/>
                </a:lnTo>
                <a:cubicBezTo>
                  <a:pt x="4320000" y="1967098"/>
                  <a:pt x="4307098" y="1980000"/>
                  <a:pt x="4291200" y="1980000"/>
                </a:cubicBezTo>
                <a:lnTo>
                  <a:pt x="28800" y="1980000"/>
                </a:lnTo>
                <a:cubicBezTo>
                  <a:pt x="12902" y="1980000"/>
                  <a:pt x="0" y="1967098"/>
                  <a:pt x="0" y="1951200"/>
                </a:cubicBezTo>
                <a:lnTo>
                  <a:pt x="0" y="28800"/>
                </a:lnTo>
                <a:cubicBezTo>
                  <a:pt x="0" y="12902"/>
                  <a:pt x="12902" y="0"/>
                  <a:pt x="28800" y="0"/>
                </a:cubicBezTo>
              </a:path>
            </a:pathLst>
          </a:custGeom>
          <a:solidFill>
            <a:srgbClr val="9B1313">
              <a:alpha val="10000"/>
            </a:srgbClr>
          </a:solidFill>
          <a:ln>
            <a:noFill/>
          </a:ln>
          <a:effectLst>
            <a:outerShdw blurRad="50800" dist="38100" dir="5400000" algn="t" rotWithShape="0">
              <a:srgbClr val="9B131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lnSpc>
                <a:spcPct val="115000"/>
              </a:lnSpc>
              <a:buClrTx/>
              <a:buSzTx/>
              <a:buFontTx/>
            </a:pPr>
            <a:endParaRPr kumimoji="1" lang="zh-CN" altLang="en-US">
              <a:latin typeface="Times New Roman" panose="02020503050405090304" charset="0"/>
              <a:cs typeface="Times New Roman" panose="02020503050405090304" charset="0"/>
              <a:sym typeface="+mn-ea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72479F19-1247-5302-8DDE-231B05CDDE0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41317" y="1202503"/>
            <a:ext cx="615811" cy="1319534"/>
          </a:xfrm>
          <a:prstGeom prst="roundRect">
            <a:avLst>
              <a:gd name="adj" fmla="val 50000"/>
            </a:avLst>
          </a:prstGeom>
          <a:pattFill prst="pct5">
            <a:fgClr>
              <a:schemeClr val="accent6">
                <a:lumMod val="50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38100" sx="101000" sy="101000" algn="ctr" rotWithShape="0">
              <a:srgbClr val="DBED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  <a:r>
              <a:rPr sz="1600" b="1" dirty="0">
                <a:solidFill>
                  <a:schemeClr val="accent6">
                    <a:lumMod val="50000"/>
                  </a:schemeClr>
                </a:solidFill>
                <a:latin typeface="Aptos"/>
              </a:rPr>
              <a:t>01</a:t>
            </a:r>
            <a:endParaRPr lang="en-US" altLang="zh-CN" b="1" spc="200" dirty="0">
              <a:solidFill>
                <a:schemeClr val="accent6">
                  <a:lumMod val="50000"/>
                </a:schemeClr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D1B01DB-E447-2E11-5620-A6AA294C32F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108028" y="1328749"/>
            <a:ext cx="2963246" cy="1318951"/>
          </a:xfrm>
          <a:prstGeom prst="rect">
            <a:avLst/>
          </a:prstGeom>
          <a:solidFill>
            <a:srgbClr val="F7FAF7">
              <a:alpha val="60000"/>
            </a:srgbClr>
          </a:solidFill>
          <a:ln w="15875">
            <a:solidFill>
              <a:srgbClr val="ECF5EC"/>
            </a:solidFill>
          </a:ln>
        </p:spPr>
        <p:txBody>
          <a:bodyPr wrap="square">
            <a:spAutoFit/>
          </a:bodyPr>
          <a:lstStyle/>
          <a:p>
            <a:pPr indent="0" algn="just" fontAlgn="auto" latinLnBrk="1">
              <a:lnSpc>
                <a:spcPct val="115000"/>
              </a:lnSpc>
            </a:pPr>
            <a:endParaRPr lang="en-US" sz="1400" b="0" dirty="0">
              <a:solidFill>
                <a:srgbClr val="5A5F63"/>
              </a:solidFill>
              <a:latin typeface="Aptos"/>
            </a:endParaRPr>
          </a:p>
          <a:p>
            <a:pPr indent="0" algn="just" fontAlgn="auto" latinLnBrk="1">
              <a:lnSpc>
                <a:spcPct val="115000"/>
              </a:lnSpc>
            </a:pPr>
            <a:r>
              <a:rPr sz="1400" b="0" dirty="0">
                <a:solidFill>
                  <a:srgbClr val="5A5F63"/>
                </a:solidFill>
                <a:latin typeface="Aptos"/>
              </a:rPr>
              <a:t>Manufacturers</a:t>
            </a:r>
            <a:endParaRPr lang="en-US" altLang="zh-CN" sz="1600" dirty="0">
              <a:latin typeface="微软雅黑" panose="020B0502040204020203" charset="-122"/>
              <a:ea typeface="微软雅黑" panose="020B0502040204020203" charset="-122"/>
            </a:endParaRPr>
          </a:p>
          <a:p>
            <a:pPr>
              <a:lnSpc>
                <a:spcPct val="115000"/>
              </a:lnSpc>
            </a:pPr>
            <a:r>
              <a:rPr lang="en-US" altLang="zh-CN" sz="1400" b="0" dirty="0">
                <a:solidFill>
                  <a:srgbClr val="5A5F63"/>
                </a:solidFill>
                <a:latin typeface="Aptos"/>
              </a:rPr>
              <a:t>Need a practical and affordable way to register compliant product data.</a:t>
            </a:r>
            <a:r>
              <a:rPr sz="1400" b="0" dirty="0">
                <a:solidFill>
                  <a:srgbClr val="5A5F63"/>
                </a:solidFill>
                <a:latin typeface="Aptos"/>
              </a:rPr>
              <a:t> </a:t>
            </a:r>
            <a:endParaRPr lang="en-US" sz="1400" b="0" dirty="0">
              <a:solidFill>
                <a:srgbClr val="5A5F63"/>
              </a:solidFill>
              <a:latin typeface="Aptos"/>
            </a:endParaRPr>
          </a:p>
          <a:p>
            <a:pPr>
              <a:lnSpc>
                <a:spcPct val="115000"/>
              </a:lnSpc>
            </a:pPr>
            <a:endParaRPr lang="en-US" sz="1400" dirty="0">
              <a:solidFill>
                <a:srgbClr val="5A5F63"/>
              </a:solidFill>
              <a:latin typeface="Aptos"/>
            </a:endParaRPr>
          </a:p>
        </p:txBody>
      </p:sp>
      <p:sp>
        <p:nvSpPr>
          <p:cNvPr id="30" name="矩形 75">
            <a:extLst>
              <a:ext uri="{FF2B5EF4-FFF2-40B4-BE49-F238E27FC236}">
                <a16:creationId xmlns:a16="http://schemas.microsoft.com/office/drawing/2014/main" id="{33BA02D1-1591-C772-1040-8211E77D369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471416" y="1015367"/>
            <a:ext cx="4206035" cy="1825369"/>
          </a:xfrm>
          <a:custGeom>
            <a:avLst/>
            <a:gdLst>
              <a:gd name="connsiteX0" fmla="*/ 28800 w 4320000"/>
              <a:gd name="connsiteY0" fmla="*/ 0 h 1980000"/>
              <a:gd name="connsiteX1" fmla="*/ 4291200 w 4320000"/>
              <a:gd name="connsiteY1" fmla="*/ 0 h 1980000"/>
              <a:gd name="connsiteX2" fmla="*/ 4320000 w 4320000"/>
              <a:gd name="connsiteY2" fmla="*/ 28800 h 1980000"/>
              <a:gd name="connsiteX3" fmla="*/ 4320000 w 4320000"/>
              <a:gd name="connsiteY3" fmla="*/ 1951200 h 1980000"/>
              <a:gd name="connsiteX4" fmla="*/ 4291200 w 4320000"/>
              <a:gd name="connsiteY4" fmla="*/ 1980000 h 1980000"/>
              <a:gd name="connsiteX5" fmla="*/ 28800 w 4320000"/>
              <a:gd name="connsiteY5" fmla="*/ 1980000 h 1980000"/>
              <a:gd name="connsiteX6" fmla="*/ 0 w 4320000"/>
              <a:gd name="connsiteY6" fmla="*/ 1951200 h 1980000"/>
              <a:gd name="connsiteX7" fmla="*/ 0 w 4320000"/>
              <a:gd name="connsiteY7" fmla="*/ 28800 h 1980000"/>
              <a:gd name="connsiteX8" fmla="*/ 28800 w 4320000"/>
              <a:gd name="connsiteY8" fmla="*/ 0 h 19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20000" h="1980000">
                <a:moveTo>
                  <a:pt x="28800" y="0"/>
                </a:moveTo>
                <a:lnTo>
                  <a:pt x="4291200" y="0"/>
                </a:lnTo>
                <a:cubicBezTo>
                  <a:pt x="4307098" y="0"/>
                  <a:pt x="4320000" y="12902"/>
                  <a:pt x="4320000" y="28800"/>
                </a:cubicBezTo>
                <a:lnTo>
                  <a:pt x="4320000" y="1951200"/>
                </a:lnTo>
                <a:cubicBezTo>
                  <a:pt x="4320000" y="1967098"/>
                  <a:pt x="4307098" y="1980000"/>
                  <a:pt x="4291200" y="1980000"/>
                </a:cubicBezTo>
                <a:lnTo>
                  <a:pt x="28800" y="1980000"/>
                </a:lnTo>
                <a:cubicBezTo>
                  <a:pt x="12902" y="1980000"/>
                  <a:pt x="0" y="1967098"/>
                  <a:pt x="0" y="1951200"/>
                </a:cubicBezTo>
                <a:lnTo>
                  <a:pt x="0" y="28800"/>
                </a:lnTo>
                <a:cubicBezTo>
                  <a:pt x="0" y="12902"/>
                  <a:pt x="12902" y="0"/>
                  <a:pt x="28800" y="0"/>
                </a:cubicBezTo>
              </a:path>
            </a:pathLst>
          </a:custGeom>
          <a:solidFill>
            <a:srgbClr val="9B1313">
              <a:alpha val="10000"/>
            </a:srgbClr>
          </a:solidFill>
          <a:ln>
            <a:noFill/>
          </a:ln>
          <a:effectLst>
            <a:outerShdw blurRad="50800" dist="38100" dir="5400000" algn="t" rotWithShape="0">
              <a:srgbClr val="9B131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>
              <a:latin typeface="Times New Roman" panose="02020503050405090304" charset="0"/>
              <a:cs typeface="Times New Roman" panose="02020503050405090304" charset="0"/>
              <a:sym typeface="+mn-ea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194967F-A013-8045-9DE6-1A7445C0DAF9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420553" y="1316285"/>
            <a:ext cx="2567388" cy="1318951"/>
          </a:xfrm>
          <a:prstGeom prst="rect">
            <a:avLst/>
          </a:prstGeom>
          <a:solidFill>
            <a:srgbClr val="F7FAF7">
              <a:alpha val="60000"/>
            </a:srgbClr>
          </a:solidFill>
          <a:ln w="15875">
            <a:solidFill>
              <a:srgbClr val="ECF5EC"/>
            </a:solidFill>
          </a:ln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buClrTx/>
              <a:buSzTx/>
              <a:buFontTx/>
            </a:pPr>
            <a:r>
              <a:rPr sz="1400" b="0" dirty="0">
                <a:solidFill>
                  <a:srgbClr val="5A5F63"/>
                </a:solidFill>
                <a:latin typeface="Aptos"/>
              </a:rPr>
              <a:t>Consumers</a:t>
            </a:r>
            <a:endParaRPr lang="en-US" altLang="zh-CN" sz="1600" dirty="0">
              <a:latin typeface="微软雅黑" panose="020B0502040204020203" charset="-122"/>
              <a:ea typeface="微软雅黑" panose="020B0502040204020203" charset="-122"/>
            </a:endParaRPr>
          </a:p>
          <a:p>
            <a:pPr>
              <a:lnSpc>
                <a:spcPct val="115000"/>
              </a:lnSpc>
            </a:pPr>
            <a:r>
              <a:rPr sz="1400" b="0" dirty="0">
                <a:solidFill>
                  <a:srgbClr val="5A5F63"/>
                </a:solidFill>
                <a:latin typeface="Aptos"/>
              </a:rPr>
              <a:t>Want a simple way to search by product ID or QR code and check if a claim looks trustworthy.</a:t>
            </a:r>
          </a:p>
        </p:txBody>
      </p:sp>
      <p:sp>
        <p:nvSpPr>
          <p:cNvPr id="40" name="矩形 75">
            <a:extLst>
              <a:ext uri="{FF2B5EF4-FFF2-40B4-BE49-F238E27FC236}">
                <a16:creationId xmlns:a16="http://schemas.microsoft.com/office/drawing/2014/main" id="{FF73E976-0A82-10C0-9303-1F0016E9D04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68483" y="2963949"/>
            <a:ext cx="4206035" cy="1674944"/>
          </a:xfrm>
          <a:custGeom>
            <a:avLst/>
            <a:gdLst>
              <a:gd name="connsiteX0" fmla="*/ 28800 w 4320000"/>
              <a:gd name="connsiteY0" fmla="*/ 0 h 1980000"/>
              <a:gd name="connsiteX1" fmla="*/ 4291200 w 4320000"/>
              <a:gd name="connsiteY1" fmla="*/ 0 h 1980000"/>
              <a:gd name="connsiteX2" fmla="*/ 4320000 w 4320000"/>
              <a:gd name="connsiteY2" fmla="*/ 28800 h 1980000"/>
              <a:gd name="connsiteX3" fmla="*/ 4320000 w 4320000"/>
              <a:gd name="connsiteY3" fmla="*/ 1951200 h 1980000"/>
              <a:gd name="connsiteX4" fmla="*/ 4291200 w 4320000"/>
              <a:gd name="connsiteY4" fmla="*/ 1980000 h 1980000"/>
              <a:gd name="connsiteX5" fmla="*/ 28800 w 4320000"/>
              <a:gd name="connsiteY5" fmla="*/ 1980000 h 1980000"/>
              <a:gd name="connsiteX6" fmla="*/ 0 w 4320000"/>
              <a:gd name="connsiteY6" fmla="*/ 1951200 h 1980000"/>
              <a:gd name="connsiteX7" fmla="*/ 0 w 4320000"/>
              <a:gd name="connsiteY7" fmla="*/ 28800 h 1980000"/>
              <a:gd name="connsiteX8" fmla="*/ 28800 w 4320000"/>
              <a:gd name="connsiteY8" fmla="*/ 0 h 19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20000" h="1980000">
                <a:moveTo>
                  <a:pt x="28800" y="0"/>
                </a:moveTo>
                <a:lnTo>
                  <a:pt x="4291200" y="0"/>
                </a:lnTo>
                <a:cubicBezTo>
                  <a:pt x="4307098" y="0"/>
                  <a:pt x="4320000" y="12902"/>
                  <a:pt x="4320000" y="28800"/>
                </a:cubicBezTo>
                <a:lnTo>
                  <a:pt x="4320000" y="1951200"/>
                </a:lnTo>
                <a:cubicBezTo>
                  <a:pt x="4320000" y="1967098"/>
                  <a:pt x="4307098" y="1980000"/>
                  <a:pt x="4291200" y="1980000"/>
                </a:cubicBezTo>
                <a:lnTo>
                  <a:pt x="28800" y="1980000"/>
                </a:lnTo>
                <a:cubicBezTo>
                  <a:pt x="12902" y="1980000"/>
                  <a:pt x="0" y="1967098"/>
                  <a:pt x="0" y="1951200"/>
                </a:cubicBezTo>
                <a:lnTo>
                  <a:pt x="0" y="28800"/>
                </a:lnTo>
                <a:cubicBezTo>
                  <a:pt x="0" y="12902"/>
                  <a:pt x="12902" y="0"/>
                  <a:pt x="28800" y="0"/>
                </a:cubicBezTo>
              </a:path>
            </a:pathLst>
          </a:custGeom>
          <a:solidFill>
            <a:srgbClr val="9B1313">
              <a:alpha val="10000"/>
            </a:srgbClr>
          </a:solidFill>
          <a:ln>
            <a:noFill/>
          </a:ln>
          <a:effectLst>
            <a:outerShdw blurRad="50800" dist="38100" dir="5400000" algn="t" rotWithShape="0">
              <a:srgbClr val="9B131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>
              <a:latin typeface="Times New Roman" panose="02020503050405090304" charset="0"/>
              <a:cs typeface="Times New Roman" panose="02020503050405090304" charset="0"/>
              <a:sym typeface="+mn-ea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D96008-1B26-074C-1607-1EB10075526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503886" y="3142237"/>
            <a:ext cx="2567388" cy="1318951"/>
          </a:xfrm>
          <a:prstGeom prst="rect">
            <a:avLst/>
          </a:prstGeom>
          <a:solidFill>
            <a:srgbClr val="F7FAF7">
              <a:alpha val="60000"/>
            </a:srgbClr>
          </a:solidFill>
          <a:ln w="15875">
            <a:solidFill>
              <a:srgbClr val="ECF5EC"/>
            </a:solidFill>
          </a:ln>
        </p:spPr>
        <p:txBody>
          <a:bodyPr wrap="square">
            <a:spAutoFit/>
          </a:bodyPr>
          <a:lstStyle/>
          <a:p>
            <a:pPr indent="0" algn="just" fontAlgn="auto" latinLnBrk="1">
              <a:lnSpc>
                <a:spcPct val="115000"/>
              </a:lnSpc>
            </a:pPr>
            <a:r>
              <a:rPr lang="en-US" altLang="zh-CN" sz="1400" dirty="0">
                <a:solidFill>
                  <a:srgbClr val="5A5F63"/>
                </a:solidFill>
                <a:latin typeface="Aptos"/>
              </a:rPr>
              <a:t>Regulators</a:t>
            </a:r>
            <a:endParaRPr lang="en-US" altLang="zh-CN" sz="1600" dirty="0">
              <a:latin typeface="微软雅黑" panose="020B0502040204020203" charset="-122"/>
              <a:ea typeface="微软雅黑" panose="020B0502040204020203" charset="-122"/>
            </a:endParaRPr>
          </a:p>
          <a:p>
            <a:pPr>
              <a:lnSpc>
                <a:spcPct val="115000"/>
              </a:lnSpc>
            </a:pPr>
            <a:r>
              <a:rPr lang="en-US" altLang="zh-CN" sz="1400" dirty="0">
                <a:solidFill>
                  <a:srgbClr val="5A5F63"/>
                </a:solidFill>
                <a:latin typeface="Aptos"/>
              </a:rPr>
              <a:t>Need auditable timestamps, issuer records and public verification without relying on private databases.</a:t>
            </a:r>
          </a:p>
        </p:txBody>
      </p:sp>
      <p:sp>
        <p:nvSpPr>
          <p:cNvPr id="43" name="矩形 75">
            <a:extLst>
              <a:ext uri="{FF2B5EF4-FFF2-40B4-BE49-F238E27FC236}">
                <a16:creationId xmlns:a16="http://schemas.microsoft.com/office/drawing/2014/main" id="{7E0633E1-A816-118F-8431-149C69047778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4913371" y="2960280"/>
            <a:ext cx="4040927" cy="1674944"/>
          </a:xfrm>
          <a:custGeom>
            <a:avLst/>
            <a:gdLst>
              <a:gd name="connsiteX0" fmla="*/ 28800 w 4320000"/>
              <a:gd name="connsiteY0" fmla="*/ 0 h 1980000"/>
              <a:gd name="connsiteX1" fmla="*/ 4291200 w 4320000"/>
              <a:gd name="connsiteY1" fmla="*/ 0 h 1980000"/>
              <a:gd name="connsiteX2" fmla="*/ 4320000 w 4320000"/>
              <a:gd name="connsiteY2" fmla="*/ 28800 h 1980000"/>
              <a:gd name="connsiteX3" fmla="*/ 4320000 w 4320000"/>
              <a:gd name="connsiteY3" fmla="*/ 1951200 h 1980000"/>
              <a:gd name="connsiteX4" fmla="*/ 4291200 w 4320000"/>
              <a:gd name="connsiteY4" fmla="*/ 1980000 h 1980000"/>
              <a:gd name="connsiteX5" fmla="*/ 28800 w 4320000"/>
              <a:gd name="connsiteY5" fmla="*/ 1980000 h 1980000"/>
              <a:gd name="connsiteX6" fmla="*/ 0 w 4320000"/>
              <a:gd name="connsiteY6" fmla="*/ 1951200 h 1980000"/>
              <a:gd name="connsiteX7" fmla="*/ 0 w 4320000"/>
              <a:gd name="connsiteY7" fmla="*/ 28800 h 1980000"/>
              <a:gd name="connsiteX8" fmla="*/ 28800 w 4320000"/>
              <a:gd name="connsiteY8" fmla="*/ 0 h 19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20000" h="1980000">
                <a:moveTo>
                  <a:pt x="28800" y="0"/>
                </a:moveTo>
                <a:lnTo>
                  <a:pt x="4291200" y="0"/>
                </a:lnTo>
                <a:cubicBezTo>
                  <a:pt x="4307098" y="0"/>
                  <a:pt x="4320000" y="12902"/>
                  <a:pt x="4320000" y="28800"/>
                </a:cubicBezTo>
                <a:lnTo>
                  <a:pt x="4320000" y="1951200"/>
                </a:lnTo>
                <a:cubicBezTo>
                  <a:pt x="4320000" y="1967098"/>
                  <a:pt x="4307098" y="1980000"/>
                  <a:pt x="4291200" y="1980000"/>
                </a:cubicBezTo>
                <a:lnTo>
                  <a:pt x="28800" y="1980000"/>
                </a:lnTo>
                <a:cubicBezTo>
                  <a:pt x="12902" y="1980000"/>
                  <a:pt x="0" y="1967098"/>
                  <a:pt x="0" y="1951200"/>
                </a:cubicBezTo>
                <a:lnTo>
                  <a:pt x="0" y="28800"/>
                </a:lnTo>
                <a:cubicBezTo>
                  <a:pt x="0" y="12902"/>
                  <a:pt x="12902" y="0"/>
                  <a:pt x="28800" y="0"/>
                </a:cubicBezTo>
              </a:path>
            </a:pathLst>
          </a:custGeom>
          <a:solidFill>
            <a:srgbClr val="9B1313">
              <a:alpha val="10000"/>
            </a:srgbClr>
          </a:solidFill>
          <a:ln>
            <a:noFill/>
          </a:ln>
          <a:effectLst>
            <a:outerShdw blurRad="50800" dist="38100" dir="5400000" algn="t" rotWithShape="0">
              <a:srgbClr val="9B131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>
              <a:latin typeface="Times New Roman" panose="02020503050405090304" charset="0"/>
              <a:cs typeface="Times New Roman" panose="02020503050405090304" charset="0"/>
              <a:sym typeface="+mn-ea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E3AE9CF-0044-CA2D-EAF1-EF5A63093447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069022" y="3137985"/>
            <a:ext cx="2567388" cy="1318951"/>
          </a:xfrm>
          <a:prstGeom prst="rect">
            <a:avLst/>
          </a:prstGeom>
          <a:solidFill>
            <a:srgbClr val="F7FAF7">
              <a:alpha val="60000"/>
            </a:srgbClr>
          </a:solidFill>
          <a:ln w="15875">
            <a:solidFill>
              <a:srgbClr val="ECF5EC"/>
            </a:solidFill>
          </a:ln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buClrTx/>
              <a:buSzTx/>
              <a:buFontTx/>
            </a:pPr>
            <a:r>
              <a:rPr lang="en-US" altLang="zh-CN" sz="1400" dirty="0">
                <a:solidFill>
                  <a:srgbClr val="5A5F63"/>
                </a:solidFill>
                <a:latin typeface="Aptos"/>
              </a:rPr>
              <a:t>Retailers / Recyclers</a:t>
            </a:r>
            <a:endParaRPr lang="en-US" altLang="zh-CN" sz="1600" dirty="0">
              <a:latin typeface="微软雅黑" panose="020B0502040204020203" charset="-122"/>
              <a:ea typeface="微软雅黑" panose="020B0502040204020203" charset="-122"/>
            </a:endParaRPr>
          </a:p>
          <a:p>
            <a:pPr>
              <a:lnSpc>
                <a:spcPct val="115000"/>
              </a:lnSpc>
            </a:pPr>
            <a:r>
              <a:rPr lang="en-US" altLang="zh-CN" sz="1400" dirty="0">
                <a:solidFill>
                  <a:srgbClr val="5A5F63"/>
                </a:solidFill>
                <a:latin typeface="Aptos"/>
              </a:rPr>
              <a:t>Benefit from clearer material and provenance data when assessing products or end-of-life options.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2F3544FA-9AA6-6DAF-74D3-DEE58F5991B1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616081" y="1252216"/>
            <a:ext cx="615811" cy="1319534"/>
          </a:xfrm>
          <a:prstGeom prst="roundRect">
            <a:avLst>
              <a:gd name="adj" fmla="val 50000"/>
            </a:avLst>
          </a:prstGeom>
          <a:pattFill prst="pct5">
            <a:fgClr>
              <a:schemeClr val="accent6">
                <a:lumMod val="50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38100" sx="101000" sy="101000" algn="ctr" rotWithShape="0">
              <a:srgbClr val="DBED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  <a:r>
              <a:rPr sz="1600" b="1" dirty="0">
                <a:solidFill>
                  <a:schemeClr val="accent6">
                    <a:lumMod val="50000"/>
                  </a:schemeClr>
                </a:solidFill>
                <a:latin typeface="Aptos"/>
              </a:rPr>
              <a:t>0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Aptos"/>
              </a:rPr>
              <a:t>2</a:t>
            </a:r>
            <a:endParaRPr lang="en-US" altLang="zh-CN" b="1" spc="200" dirty="0">
              <a:solidFill>
                <a:schemeClr val="accent6">
                  <a:lumMod val="50000"/>
                </a:schemeClr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8356BFD0-E2E9-EA14-E290-73522729E19A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49222" y="3141654"/>
            <a:ext cx="615811" cy="1319534"/>
          </a:xfrm>
          <a:prstGeom prst="roundRect">
            <a:avLst>
              <a:gd name="adj" fmla="val 5000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noFill/>
          </a:ln>
          <a:effectLst>
            <a:outerShdw blurRad="38100" sx="101000" sy="101000" algn="ctr" rotWithShape="0">
              <a:srgbClr val="DBED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  <a:r>
              <a:rPr sz="1600" b="1" dirty="0">
                <a:solidFill>
                  <a:schemeClr val="accent6">
                    <a:lumMod val="50000"/>
                  </a:schemeClr>
                </a:solidFill>
                <a:latin typeface="Aptos"/>
              </a:rPr>
              <a:t>0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Aptos"/>
              </a:rPr>
              <a:t>3</a:t>
            </a:r>
            <a:endParaRPr lang="en-US" altLang="zh-CN" b="1" spc="200" dirty="0">
              <a:solidFill>
                <a:schemeClr val="accent6">
                  <a:lumMod val="50000"/>
                </a:schemeClr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42C3A0E2-C747-A1B8-518E-AED006321E8D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5265339" y="3141654"/>
            <a:ext cx="615811" cy="1319534"/>
          </a:xfrm>
          <a:prstGeom prst="roundRect">
            <a:avLst>
              <a:gd name="adj" fmla="val 50000"/>
            </a:avLst>
          </a:prstGeom>
          <a:pattFill prst="pct5">
            <a:fgClr>
              <a:schemeClr val="accent6">
                <a:lumMod val="50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38100" sx="101000" sy="101000" algn="ctr" rotWithShape="0">
              <a:srgbClr val="DBEDF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  <a:r>
              <a:rPr sz="1600" b="1" dirty="0">
                <a:solidFill>
                  <a:schemeClr val="accent6">
                    <a:lumMod val="50000"/>
                  </a:schemeClr>
                </a:solidFill>
                <a:latin typeface="Aptos"/>
              </a:rPr>
              <a:t>0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Aptos"/>
              </a:rPr>
              <a:t>4</a:t>
            </a:r>
            <a:endParaRPr lang="en-US" altLang="zh-CN" b="1" spc="200" dirty="0">
              <a:solidFill>
                <a:schemeClr val="accent6">
                  <a:lumMod val="50000"/>
                </a:schemeClr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8090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6F855F"/>
            </a:gs>
            <a:gs pos="100000">
              <a:srgbClr val="87997A"/>
            </a:gs>
            <a:gs pos="100000">
              <a:schemeClr val="accent6">
                <a:lumMod val="40000"/>
                <a:lumOff val="60000"/>
              </a:schemeClr>
            </a:gs>
            <a:gs pos="63000">
              <a:schemeClr val="accent6">
                <a:lumMod val="40000"/>
                <a:lumOff val="60000"/>
              </a:schemeClr>
            </a:gs>
            <a:gs pos="0">
              <a:schemeClr val="bg1">
                <a:alpha val="0"/>
              </a:schemeClr>
            </a:gs>
            <a:gs pos="100000">
              <a:schemeClr val="accent6">
                <a:lumMod val="20000"/>
                <a:lumOff val="80000"/>
              </a:schemeClr>
            </a:gs>
            <a:gs pos="100000">
              <a:schemeClr val="accent6">
                <a:lumMod val="60000"/>
                <a:lumOff val="40000"/>
              </a:schemeClr>
            </a:gs>
          </a:gsLst>
          <a:lin ang="72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C8FC17-6770-5A1E-367A-9C08D0815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4C1E8529-CBDF-2BCA-894A-1D1E4FA6F47F}"/>
              </a:ext>
            </a:extLst>
          </p:cNvPr>
          <p:cNvSpPr/>
          <p:nvPr/>
        </p:nvSpPr>
        <p:spPr>
          <a:xfrm>
            <a:off x="-26802" y="45"/>
            <a:ext cx="9335910" cy="594360"/>
          </a:xfrm>
          <a:prstGeom prst="rect">
            <a:avLst/>
          </a:prstGeom>
          <a:solidFill>
            <a:schemeClr val="accent3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51E0ED05-8B62-F8B2-FE68-79FF6BB2EDE7}"/>
              </a:ext>
            </a:extLst>
          </p:cNvPr>
          <p:cNvSpPr/>
          <p:nvPr/>
        </p:nvSpPr>
        <p:spPr>
          <a:xfrm>
            <a:off x="86868" y="649874"/>
            <a:ext cx="4384548" cy="261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Aptos"/>
              </a:rPr>
              <a:t>2.2  Market Need</a:t>
            </a:r>
            <a:endParaRPr kumimoji="1" lang="en-US" altLang="zh-CN" sz="1400" b="1" dirty="0">
              <a:solidFill>
                <a:schemeClr val="accent6">
                  <a:lumMod val="50000"/>
                </a:schemeClr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84DF138-0866-3494-71F5-57DF2F4D1AAD}"/>
              </a:ext>
            </a:extLst>
          </p:cNvPr>
          <p:cNvSpPr/>
          <p:nvPr/>
        </p:nvSpPr>
        <p:spPr>
          <a:xfrm>
            <a:off x="2916575" y="14579"/>
            <a:ext cx="1214700" cy="5619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EAD09B2-2022-7A43-8619-307CF3293CA0}"/>
              </a:ext>
            </a:extLst>
          </p:cNvPr>
          <p:cNvSpPr txBox="1"/>
          <p:nvPr/>
        </p:nvSpPr>
        <p:spPr>
          <a:xfrm>
            <a:off x="1650512" y="129499"/>
            <a:ext cx="1415024" cy="27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1. Background</a:t>
            </a:r>
            <a:endParaRPr kumimoji="1" lang="en-US" altLang="zh-CN" sz="1600" b="1" dirty="0">
              <a:solidFill>
                <a:schemeClr val="bg1"/>
              </a:solidFill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E464FE0-4BFA-644B-4255-500E1D02B8FE}"/>
              </a:ext>
            </a:extLst>
          </p:cNvPr>
          <p:cNvSpPr txBox="1"/>
          <p:nvPr/>
        </p:nvSpPr>
        <p:spPr>
          <a:xfrm>
            <a:off x="3012302" y="137160"/>
            <a:ext cx="918212" cy="285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2. </a:t>
            </a:r>
            <a:r>
              <a:rPr lang="en-US" sz="1100" b="1" dirty="0">
                <a:solidFill>
                  <a:srgbClr val="5A5F63"/>
                </a:solidFill>
                <a:latin typeface="Aptos"/>
              </a:rPr>
              <a:t>Need</a:t>
            </a:r>
            <a:endParaRPr kumimoji="1" lang="en-US" sz="1100" b="1" dirty="0">
              <a:solidFill>
                <a:srgbClr val="5A5F63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59FA351-692A-7D5D-5378-44414606A53D}"/>
              </a:ext>
            </a:extLst>
          </p:cNvPr>
          <p:cNvSpPr txBox="1"/>
          <p:nvPr/>
        </p:nvSpPr>
        <p:spPr>
          <a:xfrm>
            <a:off x="4332035" y="142559"/>
            <a:ext cx="918212" cy="285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3. </a:t>
            </a:r>
            <a:r>
              <a:rPr lang="en-US" sz="1100" b="1" dirty="0">
                <a:solidFill>
                  <a:srgbClr val="5A5F63"/>
                </a:solidFill>
                <a:latin typeface="Aptos"/>
              </a:rPr>
              <a:t>Design</a:t>
            </a:r>
            <a:endParaRPr kumimoji="1" lang="en-US" sz="1100" b="1" dirty="0">
              <a:solidFill>
                <a:srgbClr val="5A5F63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697068E-8646-D298-987A-FEDF057D9530}"/>
              </a:ext>
            </a:extLst>
          </p:cNvPr>
          <p:cNvSpPr txBox="1"/>
          <p:nvPr/>
        </p:nvSpPr>
        <p:spPr>
          <a:xfrm>
            <a:off x="5646138" y="141341"/>
            <a:ext cx="1706578" cy="277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4. </a:t>
            </a:r>
            <a:r>
              <a:rPr lang="en-US" sz="1100" b="1" dirty="0">
                <a:solidFill>
                  <a:srgbClr val="5A5F63"/>
                </a:solidFill>
                <a:latin typeface="Aptos"/>
              </a:rPr>
              <a:t>Implementation</a:t>
            </a:r>
            <a:endParaRPr kumimoji="1" lang="en-US" sz="1100" b="1" dirty="0">
              <a:solidFill>
                <a:srgbClr val="5A5F63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pic>
        <p:nvPicPr>
          <p:cNvPr id="24" name="图片 23" descr="2003-logo-red-1000x1000_副本">
            <a:extLst>
              <a:ext uri="{FF2B5EF4-FFF2-40B4-BE49-F238E27FC236}">
                <a16:creationId xmlns:a16="http://schemas.microsoft.com/office/drawing/2014/main" id="{67EA35DA-4862-1FC3-DB00-BAB54F6EAF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833" t="34833" r="11565" b="37454"/>
          <a:stretch>
            <a:fillRect/>
          </a:stretch>
        </p:blipFill>
        <p:spPr>
          <a:xfrm>
            <a:off x="0" y="-69851"/>
            <a:ext cx="1624080" cy="631825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1CCBBF2B-33B8-F53F-0ADA-18E6957270BA}"/>
              </a:ext>
            </a:extLst>
          </p:cNvPr>
          <p:cNvSpPr txBox="1"/>
          <p:nvPr/>
        </p:nvSpPr>
        <p:spPr>
          <a:xfrm>
            <a:off x="7288658" y="142559"/>
            <a:ext cx="1215262" cy="27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5. Conclusion</a:t>
            </a:r>
            <a:endParaRPr kumimoji="1" lang="en-US" altLang="zh-CN" sz="1600" b="1" dirty="0">
              <a:solidFill>
                <a:schemeClr val="tx1"/>
              </a:solidFill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cxnSp>
        <p:nvCxnSpPr>
          <p:cNvPr id="18" name="直线连接符 11">
            <a:extLst>
              <a:ext uri="{FF2B5EF4-FFF2-40B4-BE49-F238E27FC236}">
                <a16:creationId xmlns:a16="http://schemas.microsoft.com/office/drawing/2014/main" id="{65A96FD8-3A47-76B7-6266-50D59C001B5E}"/>
              </a:ext>
            </a:extLst>
          </p:cNvPr>
          <p:cNvCxnSpPr/>
          <p:nvPr/>
        </p:nvCxnSpPr>
        <p:spPr>
          <a:xfrm>
            <a:off x="126492" y="911296"/>
            <a:ext cx="5105400" cy="0"/>
          </a:xfrm>
          <a:prstGeom prst="line">
            <a:avLst/>
          </a:prstGeom>
          <a:ln w="25400">
            <a:solidFill>
              <a:srgbClr val="77C4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4AF01B0-181E-8B44-57B5-8863409DF40E}"/>
              </a:ext>
            </a:extLst>
          </p:cNvPr>
          <p:cNvSpPr txBox="1"/>
          <p:nvPr/>
        </p:nvSpPr>
        <p:spPr>
          <a:xfrm>
            <a:off x="239007" y="2138658"/>
            <a:ext cx="2872105" cy="374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lnSpc>
                <a:spcPct val="115000"/>
              </a:lnSpc>
              <a:defRPr sz="1600" b="1">
                <a:solidFill>
                  <a:srgbClr val="387A54"/>
                </a:solidFill>
                <a:latin typeface="Apto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REGULATORY PRESSURE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1904AF2-9F33-E587-D2DF-614714C52E28}"/>
              </a:ext>
            </a:extLst>
          </p:cNvPr>
          <p:cNvSpPr txBox="1"/>
          <p:nvPr/>
        </p:nvSpPr>
        <p:spPr>
          <a:xfrm>
            <a:off x="3309620" y="2126600"/>
            <a:ext cx="2524760" cy="374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600" b="1" dirty="0">
                <a:solidFill>
                  <a:srgbClr val="387A54"/>
                </a:solidFill>
                <a:latin typeface="Aptos"/>
              </a:rPr>
              <a:t>BUSINESS DEMAND</a:t>
            </a:r>
            <a:endParaRPr kumimoji="1" lang="en-US" sz="1600" b="1" dirty="0">
              <a:solidFill>
                <a:srgbClr val="387A54"/>
              </a:solidFill>
              <a:latin typeface="Aptos"/>
              <a:ea typeface="微软雅黑" panose="020B0502040204020203" charset="-122"/>
              <a:cs typeface="Arial" panose="020B060402020209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6C6CE4-724E-F7A3-C278-DF27E9BADA80}"/>
              </a:ext>
            </a:extLst>
          </p:cNvPr>
          <p:cNvSpPr txBox="1"/>
          <p:nvPr/>
        </p:nvSpPr>
        <p:spPr>
          <a:xfrm>
            <a:off x="6231395" y="2140290"/>
            <a:ext cx="2486025" cy="374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en-US" sz="1600" b="1" dirty="0">
                <a:latin typeface="Aptos"/>
                <a:ea typeface="微软雅黑" panose="020B0502040204020203" charset="-122"/>
                <a:cs typeface="Arial" panose="020B0604020202090204" pitchFamily="34" charset="0"/>
              </a:rPr>
              <a:t>USER EXPECTATION</a:t>
            </a:r>
          </a:p>
        </p:txBody>
      </p:sp>
      <p:cxnSp>
        <p:nvCxnSpPr>
          <p:cNvPr id="7" name="直线连接符 27">
            <a:extLst>
              <a:ext uri="{FF2B5EF4-FFF2-40B4-BE49-F238E27FC236}">
                <a16:creationId xmlns:a16="http://schemas.microsoft.com/office/drawing/2014/main" id="{10D5B966-A221-9200-7E0D-027DF587F004}"/>
              </a:ext>
            </a:extLst>
          </p:cNvPr>
          <p:cNvCxnSpPr/>
          <p:nvPr/>
        </p:nvCxnSpPr>
        <p:spPr>
          <a:xfrm>
            <a:off x="3471408" y="2767630"/>
            <a:ext cx="3055937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accent6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88EDF43A-9748-32C9-A44D-A35C7E70A9FA}"/>
              </a:ext>
            </a:extLst>
          </p:cNvPr>
          <p:cNvSpPr txBox="1"/>
          <p:nvPr/>
        </p:nvSpPr>
        <p:spPr>
          <a:xfrm>
            <a:off x="469692" y="3041583"/>
            <a:ext cx="2871787" cy="927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en-US" altLang="zh-CN" sz="1600" dirty="0">
                <a:latin typeface="Aptos"/>
              </a:rPr>
              <a:t>ESPR compliance</a:t>
            </a:r>
          </a:p>
          <a:p>
            <a:pPr marL="285750" indent="-28575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en-US" altLang="zh-CN" sz="1600" dirty="0">
                <a:latin typeface="Aptos"/>
              </a:rPr>
              <a:t>DPP requirements</a:t>
            </a:r>
          </a:p>
          <a:p>
            <a:pPr marL="285750" indent="-28575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en-US" altLang="zh-CN" sz="1600" dirty="0">
                <a:latin typeface="Aptos"/>
              </a:rPr>
              <a:t>EU sustainability agenda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95A2F97-40DB-3AFC-0290-D3D5A713C96F}"/>
              </a:ext>
            </a:extLst>
          </p:cNvPr>
          <p:cNvSpPr txBox="1"/>
          <p:nvPr/>
        </p:nvSpPr>
        <p:spPr>
          <a:xfrm>
            <a:off x="3417481" y="3017738"/>
            <a:ext cx="2871787" cy="1211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en-US" altLang="zh-CN" sz="1600" dirty="0">
                <a:latin typeface="Aptos"/>
                <a:sym typeface="+mn-ea"/>
              </a:rPr>
              <a:t>SME-friendly solution</a:t>
            </a:r>
          </a:p>
          <a:p>
            <a:pPr marL="285750" indent="-28575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en-US" altLang="zh-CN" sz="1600" dirty="0">
                <a:latin typeface="Aptos"/>
                <a:sym typeface="+mn-ea"/>
              </a:rPr>
              <a:t>Lower operating cost</a:t>
            </a:r>
          </a:p>
          <a:p>
            <a:pPr marL="285750" indent="-28575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en-US" altLang="zh-CN" sz="1600" dirty="0">
                <a:latin typeface="Aptos"/>
                <a:sym typeface="+mn-ea"/>
              </a:rPr>
              <a:t>Scalable product registration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2E86B06-1161-AC11-9979-A0BA4A7050B5}"/>
              </a:ext>
            </a:extLst>
          </p:cNvPr>
          <p:cNvSpPr txBox="1"/>
          <p:nvPr/>
        </p:nvSpPr>
        <p:spPr>
          <a:xfrm>
            <a:off x="6289268" y="3021613"/>
            <a:ext cx="2871788" cy="1244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en-US" altLang="zh-CN" sz="1600" b="0" dirty="0">
                <a:solidFill>
                  <a:schemeClr val="tx1"/>
                </a:solidFill>
                <a:latin typeface="Aptos"/>
              </a:rPr>
              <a:t>Clear product information</a:t>
            </a:r>
          </a:p>
          <a:p>
            <a:pPr marL="285750" indent="-28575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en-US" altLang="zh-CN" sz="1600" b="0" dirty="0">
                <a:solidFill>
                  <a:schemeClr val="tx1"/>
                </a:solidFill>
                <a:latin typeface="Aptos"/>
              </a:rPr>
              <a:t>Trusted sustainability claims</a:t>
            </a:r>
          </a:p>
          <a:p>
            <a:pPr marL="285750" indent="-28575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en-US" altLang="zh-CN" sz="1600" b="0" dirty="0">
                <a:solidFill>
                  <a:schemeClr val="tx1"/>
                </a:solidFill>
                <a:latin typeface="Aptos"/>
              </a:rPr>
              <a:t>Easy public verification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34BF04A-5C90-873A-F3B4-D0FD694DC6B3}"/>
              </a:ext>
            </a:extLst>
          </p:cNvPr>
          <p:cNvSpPr txBox="1"/>
          <p:nvPr/>
        </p:nvSpPr>
        <p:spPr>
          <a:xfrm>
            <a:off x="1014061" y="1440206"/>
            <a:ext cx="1003707" cy="393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dirty="0">
                <a:latin typeface="Aptos"/>
              </a:rPr>
              <a:t>01</a:t>
            </a:r>
            <a:endParaRPr kumimoji="1" lang="en-US" altLang="zh-CN" sz="4000" b="1" dirty="0"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4E1FAFF-239A-6FCE-6792-4736097945E8}"/>
              </a:ext>
            </a:extLst>
          </p:cNvPr>
          <p:cNvSpPr txBox="1"/>
          <p:nvPr/>
        </p:nvSpPr>
        <p:spPr>
          <a:xfrm>
            <a:off x="4070146" y="1433535"/>
            <a:ext cx="1003707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dirty="0">
                <a:solidFill>
                  <a:srgbClr val="387A54"/>
                </a:solidFill>
                <a:latin typeface="Aptos"/>
              </a:rPr>
              <a:t>02</a:t>
            </a:r>
            <a:endParaRPr kumimoji="1" lang="en-US" altLang="zh-CN" sz="4000" b="1" dirty="0">
              <a:solidFill>
                <a:srgbClr val="9B1313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40F960A-FFF6-FFBF-8B34-739B19A05C14}"/>
              </a:ext>
            </a:extLst>
          </p:cNvPr>
          <p:cNvSpPr txBox="1"/>
          <p:nvPr/>
        </p:nvSpPr>
        <p:spPr>
          <a:xfrm>
            <a:off x="6850862" y="1416729"/>
            <a:ext cx="1003707" cy="393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dirty="0">
                <a:latin typeface="Aptos"/>
              </a:rPr>
              <a:t>03</a:t>
            </a:r>
            <a:endParaRPr kumimoji="1" lang="en-US" altLang="zh-CN" sz="4000" b="1" dirty="0">
              <a:latin typeface="微软雅黑" panose="020B0502040204020203" charset="-122"/>
              <a:ea typeface="微软雅黑" panose="020B0502040204020203" charset="-122"/>
            </a:endParaRPr>
          </a:p>
        </p:txBody>
      </p:sp>
      <p:cxnSp>
        <p:nvCxnSpPr>
          <p:cNvPr id="32" name="直线连接符 27">
            <a:extLst>
              <a:ext uri="{FF2B5EF4-FFF2-40B4-BE49-F238E27FC236}">
                <a16:creationId xmlns:a16="http://schemas.microsoft.com/office/drawing/2014/main" id="{8E53168B-334C-B777-E965-DF06818B24C4}"/>
              </a:ext>
            </a:extLst>
          </p:cNvPr>
          <p:cNvCxnSpPr/>
          <p:nvPr/>
        </p:nvCxnSpPr>
        <p:spPr>
          <a:xfrm>
            <a:off x="6368320" y="2767630"/>
            <a:ext cx="3055937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accent6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27">
            <a:extLst>
              <a:ext uri="{FF2B5EF4-FFF2-40B4-BE49-F238E27FC236}">
                <a16:creationId xmlns:a16="http://schemas.microsoft.com/office/drawing/2014/main" id="{9826DA5C-9252-4FFF-B211-FE0CF82535BE}"/>
              </a:ext>
            </a:extLst>
          </p:cNvPr>
          <p:cNvCxnSpPr/>
          <p:nvPr/>
        </p:nvCxnSpPr>
        <p:spPr>
          <a:xfrm>
            <a:off x="582907" y="2767630"/>
            <a:ext cx="3055937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accent6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9359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6F855F"/>
            </a:gs>
            <a:gs pos="100000">
              <a:srgbClr val="87997A"/>
            </a:gs>
            <a:gs pos="100000">
              <a:schemeClr val="accent6">
                <a:lumMod val="40000"/>
                <a:lumOff val="60000"/>
              </a:schemeClr>
            </a:gs>
            <a:gs pos="63000">
              <a:schemeClr val="accent6">
                <a:lumMod val="40000"/>
                <a:lumOff val="60000"/>
              </a:schemeClr>
            </a:gs>
            <a:gs pos="0">
              <a:schemeClr val="bg1">
                <a:alpha val="0"/>
              </a:schemeClr>
            </a:gs>
            <a:gs pos="100000">
              <a:schemeClr val="accent6">
                <a:lumMod val="20000"/>
                <a:lumOff val="80000"/>
              </a:schemeClr>
            </a:gs>
            <a:gs pos="100000">
              <a:schemeClr val="accent6">
                <a:lumMod val="60000"/>
                <a:lumOff val="40000"/>
              </a:schemeClr>
            </a:gs>
          </a:gsLst>
          <a:lin ang="78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0E90C0-85AC-E363-00FC-08594611B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FC0C7F9E-C0FE-AF73-3660-73D5C5B8A5B0}"/>
              </a:ext>
            </a:extLst>
          </p:cNvPr>
          <p:cNvSpPr/>
          <p:nvPr/>
        </p:nvSpPr>
        <p:spPr>
          <a:xfrm>
            <a:off x="-26802" y="45"/>
            <a:ext cx="9335910" cy="594360"/>
          </a:xfrm>
          <a:prstGeom prst="rect">
            <a:avLst/>
          </a:prstGeom>
          <a:solidFill>
            <a:schemeClr val="accent3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A19BE1EB-8C6C-D821-39E0-4CE6AAA625F1}"/>
              </a:ext>
            </a:extLst>
          </p:cNvPr>
          <p:cNvSpPr/>
          <p:nvPr/>
        </p:nvSpPr>
        <p:spPr>
          <a:xfrm>
            <a:off x="86868" y="649874"/>
            <a:ext cx="4384548" cy="261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GB" altLang="zh-CN" sz="1400" b="1" dirty="0">
                <a:solidFill>
                  <a:srgbClr val="223A2E"/>
                </a:solidFill>
                <a:latin typeface="Aptos"/>
              </a:rPr>
              <a:t>2.3  Our Solution</a:t>
            </a:r>
            <a:endParaRPr kumimoji="1" lang="en-GB" altLang="zh-CN" sz="1400" b="1" dirty="0">
              <a:solidFill>
                <a:srgbClr val="223A2E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EE17D9A-7721-011A-1F6C-B77233A8DC8F}"/>
              </a:ext>
            </a:extLst>
          </p:cNvPr>
          <p:cNvSpPr/>
          <p:nvPr/>
        </p:nvSpPr>
        <p:spPr>
          <a:xfrm>
            <a:off x="2916575" y="14579"/>
            <a:ext cx="1214700" cy="5619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D7573DC-451C-DFF9-67A6-DD0285922980}"/>
              </a:ext>
            </a:extLst>
          </p:cNvPr>
          <p:cNvSpPr txBox="1"/>
          <p:nvPr/>
        </p:nvSpPr>
        <p:spPr>
          <a:xfrm>
            <a:off x="1650512" y="129499"/>
            <a:ext cx="1415024" cy="27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1. Background</a:t>
            </a:r>
            <a:endParaRPr kumimoji="1" lang="en-US" altLang="zh-CN" sz="1600" b="1" dirty="0">
              <a:solidFill>
                <a:schemeClr val="bg1"/>
              </a:solidFill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52388BD-B24F-1C04-1C63-AD0B30912CD9}"/>
              </a:ext>
            </a:extLst>
          </p:cNvPr>
          <p:cNvSpPr txBox="1"/>
          <p:nvPr/>
        </p:nvSpPr>
        <p:spPr>
          <a:xfrm>
            <a:off x="3012302" y="137160"/>
            <a:ext cx="918212" cy="285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2. </a:t>
            </a:r>
            <a:r>
              <a:rPr lang="en-US" sz="1100" b="1" dirty="0">
                <a:solidFill>
                  <a:srgbClr val="5A5F63"/>
                </a:solidFill>
                <a:latin typeface="Aptos"/>
              </a:rPr>
              <a:t>Need</a:t>
            </a:r>
            <a:endParaRPr kumimoji="1" lang="en-US" sz="1100" b="1" dirty="0">
              <a:solidFill>
                <a:srgbClr val="5A5F63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8DEE521-EA77-1971-C624-552820AD8B70}"/>
              </a:ext>
            </a:extLst>
          </p:cNvPr>
          <p:cNvSpPr txBox="1"/>
          <p:nvPr/>
        </p:nvSpPr>
        <p:spPr>
          <a:xfrm>
            <a:off x="4332035" y="142559"/>
            <a:ext cx="918212" cy="285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3. </a:t>
            </a:r>
            <a:r>
              <a:rPr lang="en-US" sz="1100" b="1" dirty="0">
                <a:solidFill>
                  <a:srgbClr val="5A5F63"/>
                </a:solidFill>
                <a:latin typeface="Aptos"/>
              </a:rPr>
              <a:t>Design</a:t>
            </a:r>
            <a:endParaRPr kumimoji="1" lang="en-US" sz="1100" b="1" dirty="0">
              <a:solidFill>
                <a:srgbClr val="5A5F63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EF17B50-4C8F-5ED9-6B8E-8BD3454A36B9}"/>
              </a:ext>
            </a:extLst>
          </p:cNvPr>
          <p:cNvSpPr txBox="1"/>
          <p:nvPr/>
        </p:nvSpPr>
        <p:spPr>
          <a:xfrm>
            <a:off x="5646138" y="141341"/>
            <a:ext cx="1706578" cy="277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4. </a:t>
            </a:r>
            <a:r>
              <a:rPr lang="en-US" sz="1100" b="1" dirty="0">
                <a:solidFill>
                  <a:srgbClr val="5A5F63"/>
                </a:solidFill>
                <a:latin typeface="Aptos"/>
              </a:rPr>
              <a:t>Implementation</a:t>
            </a:r>
            <a:endParaRPr kumimoji="1" lang="en-US" sz="1100" b="1" dirty="0">
              <a:solidFill>
                <a:srgbClr val="5A5F63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pic>
        <p:nvPicPr>
          <p:cNvPr id="24" name="图片 23" descr="2003-logo-red-1000x1000_副本">
            <a:extLst>
              <a:ext uri="{FF2B5EF4-FFF2-40B4-BE49-F238E27FC236}">
                <a16:creationId xmlns:a16="http://schemas.microsoft.com/office/drawing/2014/main" id="{5B7D9C29-2511-8441-62EE-CFD7F41D73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833" t="34833" r="11565" b="37454"/>
          <a:stretch>
            <a:fillRect/>
          </a:stretch>
        </p:blipFill>
        <p:spPr>
          <a:xfrm>
            <a:off x="0" y="-69851"/>
            <a:ext cx="1624080" cy="631825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1FA7A852-5192-A31F-C753-0CB3CD777DAE}"/>
              </a:ext>
            </a:extLst>
          </p:cNvPr>
          <p:cNvSpPr txBox="1"/>
          <p:nvPr/>
        </p:nvSpPr>
        <p:spPr>
          <a:xfrm>
            <a:off x="7288658" y="142559"/>
            <a:ext cx="1215262" cy="27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5. Conclusion</a:t>
            </a:r>
            <a:endParaRPr kumimoji="1" lang="en-US" altLang="zh-CN" sz="1600" b="1" dirty="0">
              <a:solidFill>
                <a:schemeClr val="tx1"/>
              </a:solidFill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cxnSp>
        <p:nvCxnSpPr>
          <p:cNvPr id="18" name="直线连接符 11">
            <a:extLst>
              <a:ext uri="{FF2B5EF4-FFF2-40B4-BE49-F238E27FC236}">
                <a16:creationId xmlns:a16="http://schemas.microsoft.com/office/drawing/2014/main" id="{33B076DD-ADB7-36BD-4A6B-8768BCC012AB}"/>
              </a:ext>
            </a:extLst>
          </p:cNvPr>
          <p:cNvCxnSpPr/>
          <p:nvPr/>
        </p:nvCxnSpPr>
        <p:spPr>
          <a:xfrm>
            <a:off x="126492" y="911296"/>
            <a:ext cx="5105400" cy="0"/>
          </a:xfrm>
          <a:prstGeom prst="line">
            <a:avLst/>
          </a:prstGeom>
          <a:ln w="25400">
            <a:solidFill>
              <a:srgbClr val="77C4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îṥ1îdé">
            <a:extLst>
              <a:ext uri="{FF2B5EF4-FFF2-40B4-BE49-F238E27FC236}">
                <a16:creationId xmlns:a16="http://schemas.microsoft.com/office/drawing/2014/main" id="{5F4CB68C-94EB-EB7D-A84E-ACED0204F950}"/>
              </a:ext>
            </a:extLst>
          </p:cNvPr>
          <p:cNvSpPr/>
          <p:nvPr/>
        </p:nvSpPr>
        <p:spPr bwMode="auto">
          <a:xfrm>
            <a:off x="126492" y="2730449"/>
            <a:ext cx="1237536" cy="292329"/>
          </a:xfrm>
          <a:prstGeom prst="round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00000">
                <a:srgbClr val="87997A"/>
              </a:gs>
              <a:gs pos="100000">
                <a:schemeClr val="accent6">
                  <a:lumMod val="40000"/>
                  <a:lumOff val="60000"/>
                </a:schemeClr>
              </a:gs>
              <a:gs pos="63000">
                <a:schemeClr val="accent6">
                  <a:lumMod val="40000"/>
                  <a:lumOff val="6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8100000" scaled="0"/>
          </a:gradFill>
          <a:ln w="25400"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  <a:r>
              <a:rPr lang="en-US" sz="1400" b="1" dirty="0">
                <a:solidFill>
                  <a:schemeClr val="tx1"/>
                </a:solidFill>
                <a:latin typeface="Aptos"/>
              </a:rPr>
              <a:t>EcoPassEU</a:t>
            </a:r>
            <a:endParaRPr lang="en-US" sz="1200" b="1" spc="100" dirty="0">
              <a:solidFill>
                <a:schemeClr val="tx1"/>
              </a:solidFill>
              <a:latin typeface="Aptos"/>
              <a:ea typeface="微软雅黑" panose="020B0502040204020203" charset="-122"/>
            </a:endParaRPr>
          </a:p>
        </p:txBody>
      </p:sp>
      <p:sp>
        <p:nvSpPr>
          <p:cNvPr id="41" name="ïsļîḋé">
            <a:extLst>
              <a:ext uri="{FF2B5EF4-FFF2-40B4-BE49-F238E27FC236}">
                <a16:creationId xmlns:a16="http://schemas.microsoft.com/office/drawing/2014/main" id="{23D8742E-8F76-CAB2-2CDD-F098377D6CEA}"/>
              </a:ext>
            </a:extLst>
          </p:cNvPr>
          <p:cNvSpPr/>
          <p:nvPr/>
        </p:nvSpPr>
        <p:spPr bwMode="auto">
          <a:xfrm>
            <a:off x="2461338" y="1125912"/>
            <a:ext cx="6634865" cy="545171"/>
          </a:xfrm>
          <a:prstGeom prst="roundRect">
            <a:avLst/>
          </a:prstGeom>
          <a:solidFill>
            <a:srgbClr val="F7FAF7"/>
          </a:solidFill>
          <a:ln w="15875" cap="flat" cmpd="sng" algn="ctr">
            <a:solidFill>
              <a:srgbClr val="ECF5EC"/>
            </a:solidFill>
            <a:prstDash val="solid"/>
          </a:ln>
          <a:effectLst>
            <a:outerShdw blurRad="355600" dist="190500" dir="5400000" algn="t" rotWithShape="0">
              <a:srgbClr val="9B1313">
                <a:alpha val="11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2000" kern="0">
              <a:solidFill>
                <a:srgbClr val="FFFFFF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3CBBCAA-17D2-5ABC-6453-28BFB8DE5F7A}"/>
              </a:ext>
            </a:extLst>
          </p:cNvPr>
          <p:cNvSpPr txBox="1"/>
          <p:nvPr/>
        </p:nvSpPr>
        <p:spPr>
          <a:xfrm>
            <a:off x="2509135" y="1217075"/>
            <a:ext cx="7188364" cy="292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US" altLang="zh-CN" sz="1200" b="1" dirty="0">
                <a:solidFill>
                  <a:schemeClr val="tx1"/>
                </a:solidFill>
                <a:ea typeface="Arial Unicode MS" panose="020B0604020202020204" pitchFamily="34" charset="-122"/>
                <a:cs typeface="Arial Unicode MS" panose="020B0604020202020204" pitchFamily="34" charset="-122"/>
              </a:rPr>
              <a:t>EcoPassEU is a privacy-aware Digital Product Passport DApp for sustainable consumer goods in Europe.</a:t>
            </a:r>
          </a:p>
        </p:txBody>
      </p:sp>
      <p:sp>
        <p:nvSpPr>
          <p:cNvPr id="43" name="îṧļïḋê">
            <a:extLst>
              <a:ext uri="{FF2B5EF4-FFF2-40B4-BE49-F238E27FC236}">
                <a16:creationId xmlns:a16="http://schemas.microsoft.com/office/drawing/2014/main" id="{0F51A1A7-74A8-4E9A-F7E0-7C525D02B07D}"/>
              </a:ext>
            </a:extLst>
          </p:cNvPr>
          <p:cNvSpPr/>
          <p:nvPr/>
        </p:nvSpPr>
        <p:spPr bwMode="auto">
          <a:xfrm>
            <a:off x="2461338" y="2126444"/>
            <a:ext cx="6634865" cy="528266"/>
          </a:xfrm>
          <a:prstGeom prst="roundRect">
            <a:avLst/>
          </a:prstGeom>
          <a:solidFill>
            <a:srgbClr val="F7FAF7"/>
          </a:solidFill>
          <a:ln w="15875" cap="flat" cmpd="sng" algn="ctr">
            <a:solidFill>
              <a:srgbClr val="ECF5EC"/>
            </a:solidFill>
            <a:prstDash val="solid"/>
          </a:ln>
          <a:effectLst>
            <a:outerShdw blurRad="355600" dist="190500" dir="5400000" algn="t" rotWithShape="0">
              <a:srgbClr val="9B1313">
                <a:alpha val="11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altLang="zh-CN" sz="1200" b="1" dirty="0">
                <a:ea typeface="Arial Unicode MS" panose="020B0604020202020204" pitchFamily="34" charset="-122"/>
                <a:cs typeface="Arial Unicode MS" panose="020B0604020202020204" pitchFamily="34" charset="-122"/>
              </a:rPr>
              <a:t>It allows manufacturers to register product information in a structured way, store full metadata on IPFS, and anchor a verifiable record on the blockchain.</a:t>
            </a:r>
          </a:p>
        </p:txBody>
      </p:sp>
      <p:sp>
        <p:nvSpPr>
          <p:cNvPr id="45" name="išlíďè">
            <a:extLst>
              <a:ext uri="{FF2B5EF4-FFF2-40B4-BE49-F238E27FC236}">
                <a16:creationId xmlns:a16="http://schemas.microsoft.com/office/drawing/2014/main" id="{7906C0DC-2C0B-CCEE-A122-6634699B1D2E}"/>
              </a:ext>
            </a:extLst>
          </p:cNvPr>
          <p:cNvSpPr/>
          <p:nvPr/>
        </p:nvSpPr>
        <p:spPr bwMode="auto">
          <a:xfrm>
            <a:off x="2461338" y="3033264"/>
            <a:ext cx="6634865" cy="479145"/>
          </a:xfrm>
          <a:prstGeom prst="roundRect">
            <a:avLst/>
          </a:prstGeom>
          <a:solidFill>
            <a:srgbClr val="F7FAF7"/>
          </a:solidFill>
          <a:ln w="15875" cap="flat" cmpd="sng" algn="ctr">
            <a:solidFill>
              <a:srgbClr val="ECF5EC"/>
            </a:solidFill>
            <a:prstDash val="solid"/>
          </a:ln>
          <a:effectLst>
            <a:outerShdw blurRad="355600" dist="190500" dir="5400000" algn="t" rotWithShape="0">
              <a:srgbClr val="9B1313">
                <a:alpha val="11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2000" kern="0" dirty="0">
              <a:solidFill>
                <a:srgbClr val="FFFFFF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F31A9AAA-F0C3-D4E7-92A0-3F5380025EC8}"/>
              </a:ext>
            </a:extLst>
          </p:cNvPr>
          <p:cNvSpPr txBox="1"/>
          <p:nvPr/>
        </p:nvSpPr>
        <p:spPr>
          <a:xfrm>
            <a:off x="2534749" y="3014038"/>
            <a:ext cx="6515252" cy="504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US" altLang="zh-CN" sz="1200" b="1" dirty="0">
                <a:ea typeface="Arial Unicode MS" panose="020B0604020202020204" pitchFamily="34" charset="-122"/>
                <a:cs typeface="Arial Unicode MS" panose="020B0604020202020204" pitchFamily="34" charset="-122"/>
              </a:rPr>
              <a:t>At the same time, consumers and regulators can search by product ID and verify product information without needing blockchain knowledge or a wallet.</a:t>
            </a:r>
          </a:p>
        </p:txBody>
      </p:sp>
      <p:sp>
        <p:nvSpPr>
          <p:cNvPr id="47" name="iśḷíḓè">
            <a:extLst>
              <a:ext uri="{FF2B5EF4-FFF2-40B4-BE49-F238E27FC236}">
                <a16:creationId xmlns:a16="http://schemas.microsoft.com/office/drawing/2014/main" id="{8FE09795-8119-9800-F6B8-10C68420712F}"/>
              </a:ext>
            </a:extLst>
          </p:cNvPr>
          <p:cNvSpPr/>
          <p:nvPr/>
        </p:nvSpPr>
        <p:spPr bwMode="auto">
          <a:xfrm>
            <a:off x="2481926" y="4052784"/>
            <a:ext cx="6620898" cy="485144"/>
          </a:xfrm>
          <a:prstGeom prst="roundRect">
            <a:avLst/>
          </a:prstGeom>
          <a:solidFill>
            <a:srgbClr val="F7FAF7"/>
          </a:solidFill>
          <a:ln w="15875" cap="flat" cmpd="sng" algn="ctr">
            <a:solidFill>
              <a:srgbClr val="ECF5EC"/>
            </a:solidFill>
            <a:prstDash val="solid"/>
          </a:ln>
          <a:effectLst>
            <a:outerShdw blurRad="355600" dist="190500" dir="5400000" algn="t" rotWithShape="0">
              <a:srgbClr val="9B1313">
                <a:alpha val="11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2000" kern="0" dirty="0">
              <a:solidFill>
                <a:srgbClr val="FFFFFF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399D407-01CF-F9DC-A82D-4BF0C49EDDB7}"/>
              </a:ext>
            </a:extLst>
          </p:cNvPr>
          <p:cNvSpPr txBox="1"/>
          <p:nvPr/>
        </p:nvSpPr>
        <p:spPr>
          <a:xfrm>
            <a:off x="2512723" y="4140774"/>
            <a:ext cx="8106307" cy="292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US" altLang="zh-CN" sz="1200" b="1" dirty="0">
                <a:ea typeface="Arial Unicode MS" panose="020B0604020202020204" pitchFamily="34" charset="-122"/>
                <a:cs typeface="Arial Unicode MS" panose="020B0604020202020204" pitchFamily="34" charset="-122"/>
              </a:rPr>
              <a:t>Our goal is to make sustainability claims more transparent, verifiable, and practical for real-world use.</a:t>
            </a:r>
          </a:p>
        </p:txBody>
      </p:sp>
      <p:sp>
        <p:nvSpPr>
          <p:cNvPr id="49" name="îS1îḍe">
            <a:extLst>
              <a:ext uri="{FF2B5EF4-FFF2-40B4-BE49-F238E27FC236}">
                <a16:creationId xmlns:a16="http://schemas.microsoft.com/office/drawing/2014/main" id="{C4E96F0E-F04D-AAFB-242E-18394BD5AC18}"/>
              </a:ext>
            </a:extLst>
          </p:cNvPr>
          <p:cNvSpPr/>
          <p:nvPr/>
        </p:nvSpPr>
        <p:spPr>
          <a:xfrm flipH="1">
            <a:off x="1257278" y="1425504"/>
            <a:ext cx="2293353" cy="3062184"/>
          </a:xfrm>
          <a:prstGeom prst="arc">
            <a:avLst>
              <a:gd name="adj1" fmla="val 16200000"/>
              <a:gd name="adj2" fmla="val 20840837"/>
            </a:avLst>
          </a:prstGeom>
          <a:solidFill>
            <a:srgbClr val="F7FAF7"/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50" name="ïṡļíḋe">
            <a:extLst>
              <a:ext uri="{FF2B5EF4-FFF2-40B4-BE49-F238E27FC236}">
                <a16:creationId xmlns:a16="http://schemas.microsoft.com/office/drawing/2014/main" id="{9C7D6D8A-7980-B8E5-E0C9-0828506A571B}"/>
              </a:ext>
            </a:extLst>
          </p:cNvPr>
          <p:cNvSpPr/>
          <p:nvPr/>
        </p:nvSpPr>
        <p:spPr>
          <a:xfrm flipH="1">
            <a:off x="1165459" y="2386272"/>
            <a:ext cx="2456698" cy="1797800"/>
          </a:xfrm>
          <a:prstGeom prst="arc">
            <a:avLst>
              <a:gd name="adj1" fmla="val 16139966"/>
              <a:gd name="adj2" fmla="val 20001816"/>
            </a:avLst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51" name="íṥľîdê">
            <a:extLst>
              <a:ext uri="{FF2B5EF4-FFF2-40B4-BE49-F238E27FC236}">
                <a16:creationId xmlns:a16="http://schemas.microsoft.com/office/drawing/2014/main" id="{066E1F31-C91E-E5A0-FBE6-A579EC0657E1}"/>
              </a:ext>
            </a:extLst>
          </p:cNvPr>
          <p:cNvSpPr/>
          <p:nvPr/>
        </p:nvSpPr>
        <p:spPr>
          <a:xfrm flipH="1">
            <a:off x="1165457" y="1930911"/>
            <a:ext cx="2456699" cy="1398549"/>
          </a:xfrm>
          <a:prstGeom prst="arc">
            <a:avLst>
              <a:gd name="adj1" fmla="val 1217913"/>
              <a:gd name="adj2" fmla="val 5439473"/>
            </a:avLst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91440" tIns="45720" rIns="91440" bIns="45720" anchor="ctr">
            <a:normAutofit fontScale="90000" lnSpcReduction="10000"/>
          </a:bodyPr>
          <a:lstStyle/>
          <a:p>
            <a:pPr algn="ctr"/>
            <a:endParaRPr/>
          </a:p>
        </p:txBody>
      </p:sp>
      <p:sp>
        <p:nvSpPr>
          <p:cNvPr id="52" name="ïşlîďê">
            <a:extLst>
              <a:ext uri="{FF2B5EF4-FFF2-40B4-BE49-F238E27FC236}">
                <a16:creationId xmlns:a16="http://schemas.microsoft.com/office/drawing/2014/main" id="{19D43089-6734-0ABD-FB12-0691DC5AADD6}"/>
              </a:ext>
            </a:extLst>
          </p:cNvPr>
          <p:cNvSpPr/>
          <p:nvPr/>
        </p:nvSpPr>
        <p:spPr>
          <a:xfrm flipH="1">
            <a:off x="1220193" y="1217075"/>
            <a:ext cx="2441587" cy="3081874"/>
          </a:xfrm>
          <a:prstGeom prst="arc">
            <a:avLst>
              <a:gd name="adj1" fmla="val 773079"/>
              <a:gd name="adj2" fmla="val 5432290"/>
            </a:avLst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744423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51A98B-468B-2F74-97F1-C662BA22E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CD9F6D78-7A33-3E37-112C-6B7A181B674F}"/>
              </a:ext>
            </a:extLst>
          </p:cNvPr>
          <p:cNvSpPr/>
          <p:nvPr/>
        </p:nvSpPr>
        <p:spPr>
          <a:xfrm>
            <a:off x="-26802" y="45"/>
            <a:ext cx="9335910" cy="594360"/>
          </a:xfrm>
          <a:prstGeom prst="rect">
            <a:avLst/>
          </a:prstGeom>
          <a:solidFill>
            <a:schemeClr val="accent3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18" name="图片 17" descr="921a026d-0345-47eb-b62e-2808c0a4e7ba">
            <a:extLst>
              <a:ext uri="{FF2B5EF4-FFF2-40B4-BE49-F238E27FC236}">
                <a16:creationId xmlns:a16="http://schemas.microsoft.com/office/drawing/2014/main" id="{242CE8F6-C7B0-1BD6-AD71-AC5ED26EA29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000"/>
                    </a14:imgEffect>
                    <a14:imgEffect>
                      <a14:saturation sat="15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9144000" cy="5120897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08C57418-DCD8-520C-5EC5-B97D42E029E1}"/>
              </a:ext>
            </a:extLst>
          </p:cNvPr>
          <p:cNvSpPr txBox="1"/>
          <p:nvPr/>
        </p:nvSpPr>
        <p:spPr>
          <a:xfrm>
            <a:off x="1368270" y="1885038"/>
            <a:ext cx="3272883" cy="2619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2400" b="1" dirty="0">
                <a:solidFill>
                  <a:srgbClr val="223A2E"/>
                </a:solidFill>
                <a:latin typeface="Aptos"/>
              </a:rPr>
              <a:t>System Design</a:t>
            </a:r>
          </a:p>
          <a:p>
            <a:pPr algn="ctr">
              <a:lnSpc>
                <a:spcPct val="115000"/>
              </a:lnSpc>
            </a:pPr>
            <a:r>
              <a:rPr lang="en-US" altLang="zh-CN" sz="2400" b="1" dirty="0">
                <a:solidFill>
                  <a:srgbClr val="223A2E"/>
                </a:solidFill>
                <a:latin typeface="Aptos"/>
              </a:rPr>
              <a:t>&amp;</a:t>
            </a:r>
          </a:p>
          <a:p>
            <a:pPr algn="ctr">
              <a:lnSpc>
                <a:spcPct val="115000"/>
              </a:lnSpc>
            </a:pPr>
            <a:r>
              <a:rPr lang="en-US" altLang="zh-CN" sz="2400" b="1" dirty="0">
                <a:solidFill>
                  <a:srgbClr val="223A2E"/>
                </a:solidFill>
                <a:latin typeface="Aptos"/>
              </a:rPr>
              <a:t>Key Features</a:t>
            </a:r>
          </a:p>
          <a:p>
            <a:pPr algn="ctr">
              <a:lnSpc>
                <a:spcPct val="115000"/>
              </a:lnSpc>
            </a:pPr>
            <a:endParaRPr kumimoji="1" lang="en-US" altLang="zh-CN" sz="2400" b="1" dirty="0">
              <a:solidFill>
                <a:srgbClr val="223A2E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  <a:p>
            <a:pPr algn="ctr">
              <a:lnSpc>
                <a:spcPct val="115000"/>
              </a:lnSpc>
            </a:pPr>
            <a:endParaRPr lang="en-US" altLang="zh-CN" sz="2400" b="1" dirty="0">
              <a:solidFill>
                <a:srgbClr val="223A2E"/>
              </a:solidFill>
              <a:latin typeface="Aptos"/>
            </a:endParaRPr>
          </a:p>
          <a:p>
            <a:pPr algn="ctr">
              <a:lnSpc>
                <a:spcPct val="115000"/>
              </a:lnSpc>
            </a:pPr>
            <a:endParaRPr kumimoji="1" lang="en-US" altLang="zh-CN" sz="2400" b="1" dirty="0">
              <a:solidFill>
                <a:srgbClr val="223A2E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9" name="文本框 9">
            <a:extLst>
              <a:ext uri="{FF2B5EF4-FFF2-40B4-BE49-F238E27FC236}">
                <a16:creationId xmlns:a16="http://schemas.microsoft.com/office/drawing/2014/main" id="{897811B8-15F3-FDD5-CB9C-76F291A257E0}"/>
              </a:ext>
            </a:extLst>
          </p:cNvPr>
          <p:cNvSpPr txBox="1"/>
          <p:nvPr/>
        </p:nvSpPr>
        <p:spPr>
          <a:xfrm>
            <a:off x="76534" y="1885038"/>
            <a:ext cx="2070075" cy="496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400" b="1" dirty="0">
                <a:solidFill>
                  <a:schemeClr val="tx1"/>
                </a:solidFill>
                <a:latin typeface="Aptos"/>
              </a:rPr>
              <a:t>0</a:t>
            </a:r>
            <a:r>
              <a:rPr lang="en-US" sz="2400" b="1" dirty="0">
                <a:latin typeface="Aptos"/>
              </a:rPr>
              <a:t>3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/>
              <a:cs typeface="+mn-ea"/>
              <a:sym typeface="+mn-lt"/>
            </a:endParaRPr>
          </a:p>
        </p:txBody>
      </p:sp>
      <p:pic>
        <p:nvPicPr>
          <p:cNvPr id="2" name="图片 1" descr="2003-logo-red-1000x1000_副本">
            <a:extLst>
              <a:ext uri="{FF2B5EF4-FFF2-40B4-BE49-F238E27FC236}">
                <a16:creationId xmlns:a16="http://schemas.microsoft.com/office/drawing/2014/main" id="{C364A02C-AF49-40D0-7BFA-660797FB22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833" t="34833" r="11565" b="37454"/>
          <a:stretch>
            <a:fillRect/>
          </a:stretch>
        </p:blipFill>
        <p:spPr>
          <a:xfrm>
            <a:off x="-104123" y="-53264"/>
            <a:ext cx="2682875" cy="97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219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6">
                <a:lumMod val="50000"/>
              </a:schemeClr>
            </a:gs>
            <a:gs pos="100000">
              <a:srgbClr val="87997A"/>
            </a:gs>
            <a:gs pos="100000">
              <a:schemeClr val="accent6">
                <a:lumMod val="40000"/>
                <a:lumOff val="60000"/>
              </a:schemeClr>
            </a:gs>
            <a:gs pos="63000">
              <a:schemeClr val="accent6">
                <a:lumMod val="40000"/>
                <a:lumOff val="60000"/>
              </a:schemeClr>
            </a:gs>
            <a:gs pos="0">
              <a:schemeClr val="bg1">
                <a:alpha val="0"/>
              </a:schemeClr>
            </a:gs>
            <a:gs pos="100000">
              <a:schemeClr val="accent6">
                <a:lumMod val="20000"/>
                <a:lumOff val="80000"/>
              </a:schemeClr>
            </a:gs>
            <a:gs pos="100000">
              <a:schemeClr val="accent6">
                <a:lumMod val="60000"/>
                <a:lumOff val="40000"/>
              </a:schemeClr>
            </a:gs>
          </a:gsLst>
          <a:lin ang="8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C3BB7A-391D-9B89-C578-B02D6A7C6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DA5F469F-33F7-DFA3-2059-2CABEDEF559F}"/>
              </a:ext>
            </a:extLst>
          </p:cNvPr>
          <p:cNvSpPr/>
          <p:nvPr/>
        </p:nvSpPr>
        <p:spPr>
          <a:xfrm>
            <a:off x="-26802" y="45"/>
            <a:ext cx="9335910" cy="594360"/>
          </a:xfrm>
          <a:prstGeom prst="rect">
            <a:avLst/>
          </a:prstGeom>
          <a:solidFill>
            <a:schemeClr val="accent3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AAAA0EF2-F07D-6A10-9631-11021F203A7E}"/>
              </a:ext>
            </a:extLst>
          </p:cNvPr>
          <p:cNvSpPr/>
          <p:nvPr/>
        </p:nvSpPr>
        <p:spPr>
          <a:xfrm>
            <a:off x="86868" y="649874"/>
            <a:ext cx="4384548" cy="261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altLang="zh-CN" sz="1400" b="1" dirty="0">
                <a:solidFill>
                  <a:srgbClr val="223A2E"/>
                </a:solidFill>
                <a:latin typeface="Aptos"/>
              </a:rPr>
              <a:t>3.1 Hybrid Architecture &amp; Design Choices</a:t>
            </a:r>
            <a:endParaRPr kumimoji="1" lang="en-US" altLang="zh-CN" b="1" dirty="0">
              <a:solidFill>
                <a:srgbClr val="9B1313"/>
              </a:solidFill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5511FD-3436-3878-9A4C-27CCD7D37396}"/>
              </a:ext>
            </a:extLst>
          </p:cNvPr>
          <p:cNvSpPr/>
          <p:nvPr/>
        </p:nvSpPr>
        <p:spPr>
          <a:xfrm>
            <a:off x="4175986" y="-932"/>
            <a:ext cx="1214700" cy="5619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208AA93-AD8B-1991-BBB7-16CFA789AB86}"/>
              </a:ext>
            </a:extLst>
          </p:cNvPr>
          <p:cNvSpPr txBox="1"/>
          <p:nvPr/>
        </p:nvSpPr>
        <p:spPr>
          <a:xfrm>
            <a:off x="1650512" y="129499"/>
            <a:ext cx="1415024" cy="27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1. Background</a:t>
            </a:r>
            <a:endParaRPr kumimoji="1" lang="en-US" altLang="zh-CN" sz="1600" b="1" dirty="0">
              <a:solidFill>
                <a:schemeClr val="bg1"/>
              </a:solidFill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EDA0D07-3C08-1525-B873-0C4440DF70CE}"/>
              </a:ext>
            </a:extLst>
          </p:cNvPr>
          <p:cNvSpPr txBox="1"/>
          <p:nvPr/>
        </p:nvSpPr>
        <p:spPr>
          <a:xfrm>
            <a:off x="3002321" y="148284"/>
            <a:ext cx="918212" cy="285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2. </a:t>
            </a:r>
            <a:r>
              <a:rPr lang="en-US" sz="1100" b="1" dirty="0">
                <a:solidFill>
                  <a:srgbClr val="5A5F63"/>
                </a:solidFill>
                <a:latin typeface="Aptos"/>
              </a:rPr>
              <a:t>Need</a:t>
            </a:r>
            <a:endParaRPr kumimoji="1" lang="en-US" sz="1100" b="1" dirty="0">
              <a:solidFill>
                <a:srgbClr val="5A5F63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C1C1036-3DCE-375C-D5C2-A7A63AA05E79}"/>
              </a:ext>
            </a:extLst>
          </p:cNvPr>
          <p:cNvSpPr txBox="1"/>
          <p:nvPr/>
        </p:nvSpPr>
        <p:spPr>
          <a:xfrm>
            <a:off x="4332035" y="142559"/>
            <a:ext cx="918212" cy="285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3. </a:t>
            </a:r>
            <a:r>
              <a:rPr lang="en-US" sz="1100" b="1" dirty="0">
                <a:solidFill>
                  <a:srgbClr val="5A5F63"/>
                </a:solidFill>
                <a:latin typeface="Aptos"/>
              </a:rPr>
              <a:t>Design</a:t>
            </a:r>
            <a:endParaRPr kumimoji="1" lang="en-US" sz="1100" b="1" dirty="0">
              <a:solidFill>
                <a:srgbClr val="5A5F63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C25DCEF-583C-A2C0-C94C-07F14C05E403}"/>
              </a:ext>
            </a:extLst>
          </p:cNvPr>
          <p:cNvSpPr txBox="1"/>
          <p:nvPr/>
        </p:nvSpPr>
        <p:spPr>
          <a:xfrm>
            <a:off x="5646138" y="141341"/>
            <a:ext cx="1706578" cy="277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4. </a:t>
            </a:r>
            <a:r>
              <a:rPr lang="en-US" sz="1100" b="1" dirty="0">
                <a:solidFill>
                  <a:srgbClr val="5A5F63"/>
                </a:solidFill>
                <a:latin typeface="Aptos"/>
              </a:rPr>
              <a:t>Implementation</a:t>
            </a:r>
            <a:endParaRPr kumimoji="1" lang="en-US" sz="1100" b="1" dirty="0">
              <a:solidFill>
                <a:srgbClr val="5A5F63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pic>
        <p:nvPicPr>
          <p:cNvPr id="24" name="图片 23" descr="2003-logo-red-1000x1000_副本">
            <a:extLst>
              <a:ext uri="{FF2B5EF4-FFF2-40B4-BE49-F238E27FC236}">
                <a16:creationId xmlns:a16="http://schemas.microsoft.com/office/drawing/2014/main" id="{CA721ADE-7FBF-99D0-C884-EBE5B525F9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833" t="34833" r="11565" b="37454"/>
          <a:stretch>
            <a:fillRect/>
          </a:stretch>
        </p:blipFill>
        <p:spPr>
          <a:xfrm>
            <a:off x="0" y="-69851"/>
            <a:ext cx="1624080" cy="631825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AA176239-8F34-04BD-EEEF-34285DA2220B}"/>
              </a:ext>
            </a:extLst>
          </p:cNvPr>
          <p:cNvSpPr txBox="1"/>
          <p:nvPr/>
        </p:nvSpPr>
        <p:spPr>
          <a:xfrm>
            <a:off x="7288658" y="142559"/>
            <a:ext cx="1215262" cy="27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5. Conclusion</a:t>
            </a:r>
            <a:endParaRPr kumimoji="1" lang="en-US" altLang="zh-CN" sz="1600" b="1" dirty="0">
              <a:solidFill>
                <a:schemeClr val="tx1"/>
              </a:solidFill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cxnSp>
        <p:nvCxnSpPr>
          <p:cNvPr id="18" name="直线连接符 11">
            <a:extLst>
              <a:ext uri="{FF2B5EF4-FFF2-40B4-BE49-F238E27FC236}">
                <a16:creationId xmlns:a16="http://schemas.microsoft.com/office/drawing/2014/main" id="{34936133-B2B3-BB44-33D4-E0D81CD51D0B}"/>
              </a:ext>
            </a:extLst>
          </p:cNvPr>
          <p:cNvCxnSpPr/>
          <p:nvPr/>
        </p:nvCxnSpPr>
        <p:spPr>
          <a:xfrm>
            <a:off x="126492" y="911296"/>
            <a:ext cx="5105400" cy="0"/>
          </a:xfrm>
          <a:prstGeom prst="line">
            <a:avLst/>
          </a:prstGeom>
          <a:ln w="25400">
            <a:solidFill>
              <a:srgbClr val="77C4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B9C9DE7B-0884-F2FB-394D-610AC18909DC}"/>
              </a:ext>
            </a:extLst>
          </p:cNvPr>
          <p:cNvSpPr/>
          <p:nvPr/>
        </p:nvSpPr>
        <p:spPr>
          <a:xfrm>
            <a:off x="126493" y="2573440"/>
            <a:ext cx="1956555" cy="2007387"/>
          </a:xfrm>
          <a:prstGeom prst="rect">
            <a:avLst/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" name="矩形: 圆角 6">
            <a:extLst>
              <a:ext uri="{FF2B5EF4-FFF2-40B4-BE49-F238E27FC236}">
                <a16:creationId xmlns:a16="http://schemas.microsoft.com/office/drawing/2014/main" id="{78779FCA-C185-36B5-505B-965731BE92A9}"/>
              </a:ext>
            </a:extLst>
          </p:cNvPr>
          <p:cNvSpPr/>
          <p:nvPr/>
        </p:nvSpPr>
        <p:spPr>
          <a:xfrm>
            <a:off x="250421" y="1503328"/>
            <a:ext cx="1673346" cy="837630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 w="28575">
            <a:noFill/>
          </a:ln>
          <a:effectLst>
            <a:outerShdw blurRad="88900" dist="75434" dir="2699985" rotWithShape="0">
              <a:scrgbClr r="0" g="0" b="0">
                <a:alpha val="23000"/>
              </a:sc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  <a:r>
              <a:rPr lang="en-US" altLang="zh-CN" sz="1200" b="1" spc="150" dirty="0">
                <a:solidFill>
                  <a:schemeClr val="bg1"/>
                </a:solidFill>
              </a:rPr>
              <a:t>Hybrid Storage Model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60F0C9F-ABBB-1A26-A5BC-9BFE3C3A795E}"/>
              </a:ext>
            </a:extLst>
          </p:cNvPr>
          <p:cNvSpPr txBox="1"/>
          <p:nvPr/>
        </p:nvSpPr>
        <p:spPr>
          <a:xfrm>
            <a:off x="126492" y="2864656"/>
            <a:ext cx="1921204" cy="931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1200" dirty="0">
                <a:latin typeface="Aptos" panose="020B0004020202020204" pitchFamily="34" charset="0"/>
              </a:rPr>
              <a:t>Full product lifecycle data (JSON) is pinned off-chain to IPFS via Pinata to maintain rich metadata.</a:t>
            </a:r>
            <a:endParaRPr lang="zh-CN" altLang="en-US" sz="1200" dirty="0">
              <a:solidFill>
                <a:schemeClr val="tx1"/>
              </a:solidFill>
              <a:latin typeface="Aptos" panose="020B0004020202020204" pitchFamily="34" charset="0"/>
              <a:ea typeface="微软雅黑" panose="020B0502040204020203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615DEB-FA1E-174B-4739-6408DD4B0F90}"/>
              </a:ext>
            </a:extLst>
          </p:cNvPr>
          <p:cNvSpPr txBox="1"/>
          <p:nvPr/>
        </p:nvSpPr>
        <p:spPr>
          <a:xfrm>
            <a:off x="2437333" y="2846643"/>
            <a:ext cx="1907053" cy="1356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1200" dirty="0">
                <a:latin typeface="Aptos" panose="020B0004020202020204" pitchFamily="34" charset="0"/>
              </a:rPr>
              <a:t>Only the IPFS CID, keccak256 hash, issuer address, and timestamp are written to the </a:t>
            </a:r>
            <a:r>
              <a:rPr lang="en-US" altLang="zh-CN" sz="1200" dirty="0" err="1">
                <a:latin typeface="Aptos" panose="020B0004020202020204" pitchFamily="34" charset="0"/>
              </a:rPr>
              <a:t>Sepolia</a:t>
            </a:r>
            <a:r>
              <a:rPr lang="en-US" altLang="zh-CN" sz="1200" dirty="0">
                <a:latin typeface="Aptos" panose="020B0004020202020204" pitchFamily="34" charset="0"/>
              </a:rPr>
              <a:t> </a:t>
            </a:r>
            <a:r>
              <a:rPr lang="en-US" altLang="zh-CN" sz="1200" dirty="0" err="1">
                <a:latin typeface="Aptos" panose="020B0004020202020204" pitchFamily="34" charset="0"/>
              </a:rPr>
              <a:t>testnet</a:t>
            </a:r>
            <a:r>
              <a:rPr lang="en-US" altLang="zh-CN" sz="1200" dirty="0">
                <a:latin typeface="Aptos" panose="020B0004020202020204" pitchFamily="34" charset="0"/>
              </a:rPr>
              <a:t> to minimize gas costs. </a:t>
            </a:r>
            <a:endParaRPr lang="zh-CN" altLang="en-US" sz="1200" dirty="0">
              <a:solidFill>
                <a:schemeClr val="tx1"/>
              </a:solidFill>
              <a:latin typeface="Aptos" panose="020B0004020202020204" pitchFamily="34" charset="0"/>
              <a:ea typeface="微软雅黑" panose="020B0502040204020203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52F6383-1E70-ED1F-F910-8449A0D640B0}"/>
              </a:ext>
            </a:extLst>
          </p:cNvPr>
          <p:cNvSpPr/>
          <p:nvPr/>
        </p:nvSpPr>
        <p:spPr>
          <a:xfrm>
            <a:off x="2437333" y="1503328"/>
            <a:ext cx="1837833" cy="825904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 w="28575">
            <a:noFill/>
          </a:ln>
          <a:effectLst>
            <a:outerShdw blurRad="88900" dist="75434" dir="2699985" rotWithShape="0">
              <a:scrgbClr r="0" g="0" b="0">
                <a:alpha val="23000"/>
              </a:sc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  <a:r>
              <a:rPr lang="en-US" altLang="zh-CN" sz="1200" b="1" spc="150" dirty="0">
                <a:solidFill>
                  <a:schemeClr val="bg1"/>
                </a:solidFill>
              </a:rPr>
              <a:t>Lightweight On-Chain Anchoring</a:t>
            </a:r>
          </a:p>
        </p:txBody>
      </p:sp>
      <p:sp>
        <p:nvSpPr>
          <p:cNvPr id="8" name="矩形: 圆角 6">
            <a:extLst>
              <a:ext uri="{FF2B5EF4-FFF2-40B4-BE49-F238E27FC236}">
                <a16:creationId xmlns:a16="http://schemas.microsoft.com/office/drawing/2014/main" id="{B8922F79-03C5-5BFB-1A38-00E36A281C2A}"/>
              </a:ext>
            </a:extLst>
          </p:cNvPr>
          <p:cNvSpPr/>
          <p:nvPr/>
        </p:nvSpPr>
        <p:spPr>
          <a:xfrm>
            <a:off x="7114388" y="1497754"/>
            <a:ext cx="1909774" cy="825904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 w="28575">
            <a:noFill/>
          </a:ln>
          <a:effectLst>
            <a:outerShdw blurRad="88900" dist="75434" dir="2699985" rotWithShape="0">
              <a:scrgbClr r="0" g="0" b="0">
                <a:alpha val="23000"/>
              </a:sc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  <a:r>
              <a:rPr lang="en-US" altLang="zh-CN" sz="1600" b="1" spc="150" dirty="0">
                <a:solidFill>
                  <a:schemeClr val="bg1"/>
                </a:solidFill>
              </a:rPr>
              <a:t>Open &amp; Interoperable</a:t>
            </a:r>
          </a:p>
        </p:txBody>
      </p:sp>
      <p:sp>
        <p:nvSpPr>
          <p:cNvPr id="9" name="矩形: 圆角 6">
            <a:extLst>
              <a:ext uri="{FF2B5EF4-FFF2-40B4-BE49-F238E27FC236}">
                <a16:creationId xmlns:a16="http://schemas.microsoft.com/office/drawing/2014/main" id="{EB41584B-794C-0893-3469-19FB91BD5513}"/>
              </a:ext>
            </a:extLst>
          </p:cNvPr>
          <p:cNvSpPr/>
          <p:nvPr/>
        </p:nvSpPr>
        <p:spPr>
          <a:xfrm>
            <a:off x="4757687" y="1515054"/>
            <a:ext cx="1850789" cy="825904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 w="28575">
            <a:noFill/>
          </a:ln>
          <a:effectLst>
            <a:outerShdw blurRad="88900" dist="75434" dir="2699985" rotWithShape="0">
              <a:scrgbClr r="0" g="0" b="0">
                <a:alpha val="23000"/>
              </a:sc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  <a:r>
              <a:rPr lang="en-US" altLang="zh-CN" sz="1200" b="1" spc="150" dirty="0">
                <a:solidFill>
                  <a:schemeClr val="bg1"/>
                </a:solidFill>
              </a:rPr>
              <a:t>Privacy &amp; Future-Proofing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5442080-FF23-29E1-62BD-99F662DA8ACC}"/>
              </a:ext>
            </a:extLst>
          </p:cNvPr>
          <p:cNvSpPr/>
          <p:nvPr/>
        </p:nvSpPr>
        <p:spPr>
          <a:xfrm>
            <a:off x="2386486" y="2571750"/>
            <a:ext cx="1985010" cy="2009078"/>
          </a:xfrm>
          <a:prstGeom prst="rect">
            <a:avLst/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CD3FC51-F92F-738C-6B31-F2D162A6B660}"/>
              </a:ext>
            </a:extLst>
          </p:cNvPr>
          <p:cNvSpPr/>
          <p:nvPr/>
        </p:nvSpPr>
        <p:spPr>
          <a:xfrm>
            <a:off x="4653886" y="2571750"/>
            <a:ext cx="2104221" cy="2009078"/>
          </a:xfrm>
          <a:prstGeom prst="rect">
            <a:avLst/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E394243-1553-F721-6CAD-C5B4B2E9140D}"/>
              </a:ext>
            </a:extLst>
          </p:cNvPr>
          <p:cNvSpPr/>
          <p:nvPr/>
        </p:nvSpPr>
        <p:spPr>
          <a:xfrm>
            <a:off x="7090998" y="2571750"/>
            <a:ext cx="1985009" cy="2009078"/>
          </a:xfrm>
          <a:prstGeom prst="rect">
            <a:avLst/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C50EC9-C524-4FBD-C65D-2DAD7A9618C2}"/>
              </a:ext>
            </a:extLst>
          </p:cNvPr>
          <p:cNvSpPr txBox="1"/>
          <p:nvPr/>
        </p:nvSpPr>
        <p:spPr>
          <a:xfrm>
            <a:off x="4674934" y="2864656"/>
            <a:ext cx="1956555" cy="1356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1200" dirty="0">
                <a:latin typeface="Aptos" panose="020B0004020202020204" pitchFamily="34" charset="0"/>
              </a:rPr>
              <a:t>This architecture lays the foundation for encrypting commercially sensitive data before IPFS upload, using the on-chain hash as a secure integrity anchor. </a:t>
            </a:r>
            <a:endParaRPr lang="zh-CN" altLang="en-US" sz="1200" dirty="0">
              <a:solidFill>
                <a:schemeClr val="tx1"/>
              </a:solidFill>
              <a:latin typeface="Aptos" panose="020B0004020202020204" pitchFamily="34" charset="0"/>
              <a:ea typeface="微软雅黑" panose="020B0502040204020203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B34BE8-9209-E1C2-CA43-8EF2E58E4E99}"/>
              </a:ext>
            </a:extLst>
          </p:cNvPr>
          <p:cNvSpPr txBox="1"/>
          <p:nvPr/>
        </p:nvSpPr>
        <p:spPr>
          <a:xfrm>
            <a:off x="7067607" y="2878098"/>
            <a:ext cx="1956555" cy="114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1200" dirty="0">
                <a:latin typeface="Aptos" panose="020B0004020202020204" pitchFamily="34" charset="0"/>
              </a:rPr>
              <a:t>Built on public Ethereum and open smart contracts, eliminating the vendor lock-in risks associated with proprietary databases.</a:t>
            </a:r>
            <a:endParaRPr lang="zh-CN" altLang="en-US" sz="1200" dirty="0">
              <a:solidFill>
                <a:schemeClr val="tx1"/>
              </a:solidFill>
              <a:latin typeface="Aptos" panose="020B0004020202020204" pitchFamily="34" charset="0"/>
              <a:ea typeface="微软雅黑" panose="020B0502040204020203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6880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6">
                <a:lumMod val="50000"/>
              </a:schemeClr>
            </a:gs>
            <a:gs pos="100000">
              <a:srgbClr val="87997A"/>
            </a:gs>
            <a:gs pos="100000">
              <a:schemeClr val="accent6">
                <a:lumMod val="40000"/>
                <a:lumOff val="60000"/>
              </a:schemeClr>
            </a:gs>
            <a:gs pos="63000">
              <a:schemeClr val="accent6">
                <a:lumMod val="40000"/>
                <a:lumOff val="60000"/>
              </a:schemeClr>
            </a:gs>
            <a:gs pos="0">
              <a:schemeClr val="bg1">
                <a:alpha val="0"/>
              </a:schemeClr>
            </a:gs>
            <a:gs pos="100000">
              <a:schemeClr val="accent6">
                <a:lumMod val="20000"/>
                <a:lumOff val="80000"/>
              </a:schemeClr>
            </a:gs>
            <a:gs pos="100000">
              <a:schemeClr val="accent6">
                <a:lumMod val="60000"/>
                <a:lumOff val="40000"/>
              </a:schemeClr>
            </a:gs>
          </a:gsLst>
          <a:lin ang="9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B9B745-12EE-3781-4F8B-14B0FDB0E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7F26F3F6-87CA-C781-E1F4-7444B388E11E}"/>
              </a:ext>
            </a:extLst>
          </p:cNvPr>
          <p:cNvSpPr/>
          <p:nvPr/>
        </p:nvSpPr>
        <p:spPr>
          <a:xfrm>
            <a:off x="-26802" y="45"/>
            <a:ext cx="9335910" cy="594360"/>
          </a:xfrm>
          <a:prstGeom prst="rect">
            <a:avLst/>
          </a:prstGeom>
          <a:solidFill>
            <a:schemeClr val="accent3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DA4EE99C-BC5F-DD7D-FF3E-9D7BCF208E07}"/>
              </a:ext>
            </a:extLst>
          </p:cNvPr>
          <p:cNvSpPr/>
          <p:nvPr/>
        </p:nvSpPr>
        <p:spPr>
          <a:xfrm>
            <a:off x="86868" y="649874"/>
            <a:ext cx="4384548" cy="261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altLang="zh-CN" sz="1400" b="1" dirty="0">
                <a:solidFill>
                  <a:srgbClr val="223A2E"/>
                </a:solidFill>
                <a:latin typeface="Aptos"/>
              </a:rPr>
              <a:t>3.2  Main Functions of the DApp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4E377B8-EAFE-32E9-32AC-694DF42348A0}"/>
              </a:ext>
            </a:extLst>
          </p:cNvPr>
          <p:cNvSpPr/>
          <p:nvPr/>
        </p:nvSpPr>
        <p:spPr>
          <a:xfrm>
            <a:off x="4175986" y="-932"/>
            <a:ext cx="1214700" cy="5619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04A59C6-CF6C-6777-29A8-B2A97AFB5162}"/>
              </a:ext>
            </a:extLst>
          </p:cNvPr>
          <p:cNvSpPr txBox="1"/>
          <p:nvPr/>
        </p:nvSpPr>
        <p:spPr>
          <a:xfrm>
            <a:off x="1650512" y="129499"/>
            <a:ext cx="1415024" cy="27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1. Background</a:t>
            </a:r>
            <a:endParaRPr kumimoji="1" lang="en-US" altLang="zh-CN" sz="1600" b="1" dirty="0">
              <a:solidFill>
                <a:schemeClr val="bg1"/>
              </a:solidFill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0907DF3-218D-41DD-B2A7-A6294A2724D5}"/>
              </a:ext>
            </a:extLst>
          </p:cNvPr>
          <p:cNvSpPr txBox="1"/>
          <p:nvPr/>
        </p:nvSpPr>
        <p:spPr>
          <a:xfrm>
            <a:off x="3002321" y="148284"/>
            <a:ext cx="918212" cy="285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2. </a:t>
            </a:r>
            <a:r>
              <a:rPr lang="en-US" sz="1100" b="1" dirty="0">
                <a:solidFill>
                  <a:srgbClr val="5A5F63"/>
                </a:solidFill>
                <a:latin typeface="Aptos"/>
              </a:rPr>
              <a:t>Need</a:t>
            </a:r>
            <a:endParaRPr kumimoji="1" lang="en-US" sz="1100" b="1" dirty="0">
              <a:solidFill>
                <a:srgbClr val="5A5F63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100E4B7-C331-13D7-4DC4-007455262902}"/>
              </a:ext>
            </a:extLst>
          </p:cNvPr>
          <p:cNvSpPr txBox="1"/>
          <p:nvPr/>
        </p:nvSpPr>
        <p:spPr>
          <a:xfrm>
            <a:off x="4332035" y="142559"/>
            <a:ext cx="918212" cy="285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3. </a:t>
            </a:r>
            <a:r>
              <a:rPr lang="en-US" sz="1100" b="1" dirty="0">
                <a:solidFill>
                  <a:srgbClr val="5A5F63"/>
                </a:solidFill>
                <a:latin typeface="Aptos"/>
              </a:rPr>
              <a:t>Design</a:t>
            </a:r>
            <a:endParaRPr kumimoji="1" lang="en-US" sz="1100" b="1" dirty="0">
              <a:solidFill>
                <a:srgbClr val="5A5F63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3B08DE5-C6AF-DD66-8BBF-42FC93CB4F6E}"/>
              </a:ext>
            </a:extLst>
          </p:cNvPr>
          <p:cNvSpPr txBox="1"/>
          <p:nvPr/>
        </p:nvSpPr>
        <p:spPr>
          <a:xfrm>
            <a:off x="5646138" y="141341"/>
            <a:ext cx="1706578" cy="277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4. </a:t>
            </a:r>
            <a:r>
              <a:rPr lang="en-US" sz="1100" b="1" dirty="0">
                <a:solidFill>
                  <a:srgbClr val="5A5F63"/>
                </a:solidFill>
                <a:latin typeface="Aptos"/>
              </a:rPr>
              <a:t>Implementation</a:t>
            </a:r>
            <a:endParaRPr kumimoji="1" lang="en-US" sz="1100" b="1" dirty="0">
              <a:solidFill>
                <a:srgbClr val="5A5F63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pic>
        <p:nvPicPr>
          <p:cNvPr id="24" name="图片 23" descr="2003-logo-red-1000x1000_副本">
            <a:extLst>
              <a:ext uri="{FF2B5EF4-FFF2-40B4-BE49-F238E27FC236}">
                <a16:creationId xmlns:a16="http://schemas.microsoft.com/office/drawing/2014/main" id="{D7FDF68F-D9FC-BD58-D43B-F58D723FE8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833" t="34833" r="11565" b="37454"/>
          <a:stretch>
            <a:fillRect/>
          </a:stretch>
        </p:blipFill>
        <p:spPr>
          <a:xfrm>
            <a:off x="0" y="-69851"/>
            <a:ext cx="1624080" cy="631825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F2E09286-61C0-D61F-41AC-2BD0468C5F18}"/>
              </a:ext>
            </a:extLst>
          </p:cNvPr>
          <p:cNvSpPr txBox="1"/>
          <p:nvPr/>
        </p:nvSpPr>
        <p:spPr>
          <a:xfrm>
            <a:off x="7288658" y="142559"/>
            <a:ext cx="1215262" cy="27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5. Conclusion</a:t>
            </a:r>
            <a:endParaRPr kumimoji="1" lang="en-US" altLang="zh-CN" sz="1600" b="1" dirty="0">
              <a:solidFill>
                <a:schemeClr val="tx1"/>
              </a:solidFill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cxnSp>
        <p:nvCxnSpPr>
          <p:cNvPr id="18" name="直线连接符 11">
            <a:extLst>
              <a:ext uri="{FF2B5EF4-FFF2-40B4-BE49-F238E27FC236}">
                <a16:creationId xmlns:a16="http://schemas.microsoft.com/office/drawing/2014/main" id="{CCACE698-6319-D796-50EC-B75003EAB268}"/>
              </a:ext>
            </a:extLst>
          </p:cNvPr>
          <p:cNvCxnSpPr/>
          <p:nvPr/>
        </p:nvCxnSpPr>
        <p:spPr>
          <a:xfrm>
            <a:off x="126492" y="911296"/>
            <a:ext cx="5105400" cy="0"/>
          </a:xfrm>
          <a:prstGeom prst="line">
            <a:avLst/>
          </a:prstGeom>
          <a:ln w="25400">
            <a:solidFill>
              <a:srgbClr val="77C4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B41F23D6-2E83-0D9E-7E7D-F735AAA22F0D}"/>
              </a:ext>
            </a:extLst>
          </p:cNvPr>
          <p:cNvSpPr/>
          <p:nvPr/>
        </p:nvSpPr>
        <p:spPr>
          <a:xfrm>
            <a:off x="203554" y="1384903"/>
            <a:ext cx="2296108" cy="70245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50800" dir="5400000" algn="ctr" rotWithShape="0">
              <a:schemeClr val="accent6"/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  <a:r>
              <a:rPr lang="en-US" altLang="zh-CN" sz="1200" b="1" dirty="0">
                <a:latin typeface="微软雅黑" panose="020B0502040204020203" charset="-122"/>
                <a:ea typeface="微软雅黑" panose="020B0502040204020203" charset="-122"/>
              </a:rPr>
              <a:t>For SME Manufacturers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D24300D-ED14-57A7-1AEC-B3765C259250}"/>
              </a:ext>
            </a:extLst>
          </p:cNvPr>
          <p:cNvSpPr/>
          <p:nvPr/>
        </p:nvSpPr>
        <p:spPr>
          <a:xfrm>
            <a:off x="3112872" y="1384903"/>
            <a:ext cx="2585352" cy="70630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50800" dir="5400000" algn="ctr" rotWithShape="0">
              <a:schemeClr val="accent6"/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  <a:r>
              <a:rPr lang="en-US" altLang="zh-CN" sz="1200" b="1" dirty="0">
                <a:latin typeface="微软雅黑" panose="020B0502040204020203" charset="-122"/>
                <a:ea typeface="微软雅黑" panose="020B0502040204020203" charset="-122"/>
              </a:rPr>
              <a:t>For Consumers </a:t>
            </a:r>
            <a:r>
              <a:rPr lang="en-US" altLang="zh-CN" sz="1200" b="1">
                <a:latin typeface="微软雅黑" panose="020B0502040204020203" charset="-122"/>
                <a:ea typeface="微软雅黑" panose="020B0502040204020203" charset="-122"/>
              </a:rPr>
              <a:t>&amp; Regulators</a:t>
            </a:r>
            <a:endParaRPr lang="en-US" altLang="zh-CN" sz="1200" b="1" dirty="0"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8E2BB1-3C70-8A36-3674-C8E1B23337D5}"/>
              </a:ext>
            </a:extLst>
          </p:cNvPr>
          <p:cNvSpPr txBox="1"/>
          <p:nvPr/>
        </p:nvSpPr>
        <p:spPr>
          <a:xfrm>
            <a:off x="203554" y="2546291"/>
            <a:ext cx="2382619" cy="11695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ptos" panose="020B0004020202020204" pitchFamily="34" charset="0"/>
              </a:rPr>
              <a:t>Provides a web interface for structured data entry, batch passport registration, and automated QR code generation</a:t>
            </a:r>
            <a:r>
              <a:rPr lang="en-US" altLang="zh-CN" sz="1400" dirty="0"/>
              <a:t>.</a:t>
            </a:r>
            <a:endParaRPr lang="zh-CN" altLang="en-US" sz="1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BD13480-87EB-BBDA-1423-931AEF73A8D0}"/>
              </a:ext>
            </a:extLst>
          </p:cNvPr>
          <p:cNvSpPr txBox="1"/>
          <p:nvPr/>
        </p:nvSpPr>
        <p:spPr>
          <a:xfrm>
            <a:off x="3260527" y="2585086"/>
            <a:ext cx="2421778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>
              <a:defRPr sz="1400">
                <a:latin typeface="Aptos" panose="020B0004020202020204" pitchFamily="34" charset="0"/>
              </a:defRPr>
            </a:lvl1pPr>
          </a:lstStyle>
          <a:p>
            <a:r>
              <a:rPr lang="en-US" altLang="zh-CN" dirty="0"/>
              <a:t>Enables wallet-free, open access to read product records via public RPC endpoints. 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916582E-3988-EF6E-5D47-734F3DBB177F}"/>
              </a:ext>
            </a:extLst>
          </p:cNvPr>
          <p:cNvSpPr txBox="1"/>
          <p:nvPr/>
        </p:nvSpPr>
        <p:spPr>
          <a:xfrm>
            <a:off x="6347439" y="2571750"/>
            <a:ext cx="2382619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ptos" panose="020B0004020202020204" pitchFamily="34" charset="0"/>
              </a:rPr>
              <a:t>Renders an interactive map that geographically tracks product provenance from raw materials to assembly.</a:t>
            </a:r>
            <a:endParaRPr lang="zh-CN" altLang="en-US" sz="1400" dirty="0">
              <a:latin typeface="Aptos" panose="020B000402020202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78E966E-FD54-4924-6319-943856AD1523}"/>
              </a:ext>
            </a:extLst>
          </p:cNvPr>
          <p:cNvSpPr/>
          <p:nvPr/>
        </p:nvSpPr>
        <p:spPr>
          <a:xfrm>
            <a:off x="6202579" y="1384901"/>
            <a:ext cx="2585352" cy="70246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50800" dir="5400000" algn="ctr" rotWithShape="0">
              <a:schemeClr val="accent6"/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  <a:r>
              <a:rPr lang="en-US" altLang="zh-CN" sz="1200" b="1" dirty="0">
                <a:latin typeface="微软雅黑" panose="020B0502040204020203" charset="-122"/>
                <a:ea typeface="微软雅黑" panose="020B0502040204020203" charset="-122"/>
              </a:rPr>
              <a:t>Supply </a:t>
            </a:r>
            <a:r>
              <a:rPr lang="en-US" altLang="zh-CN" sz="1200" b="1">
                <a:latin typeface="微软雅黑" panose="020B0502040204020203" charset="-122"/>
                <a:ea typeface="微软雅黑" panose="020B0502040204020203" charset="-122"/>
              </a:rPr>
              <a:t>Chain Visualization</a:t>
            </a:r>
            <a:endParaRPr lang="en-US" altLang="zh-CN" sz="1200" b="1" dirty="0"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3768515-9F42-E390-8443-0CDEAB1532C8}"/>
              </a:ext>
            </a:extLst>
          </p:cNvPr>
          <p:cNvSpPr/>
          <p:nvPr/>
        </p:nvSpPr>
        <p:spPr>
          <a:xfrm>
            <a:off x="203554" y="2303362"/>
            <a:ext cx="2382619" cy="229757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EBCEB680-469F-313E-D853-068969322DAA}"/>
              </a:ext>
            </a:extLst>
          </p:cNvPr>
          <p:cNvSpPr/>
          <p:nvPr/>
        </p:nvSpPr>
        <p:spPr>
          <a:xfrm>
            <a:off x="3263519" y="2303362"/>
            <a:ext cx="2382619" cy="229757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3ECEA19-44B8-A97E-3DED-CD1307D701DD}"/>
              </a:ext>
            </a:extLst>
          </p:cNvPr>
          <p:cNvSpPr/>
          <p:nvPr/>
        </p:nvSpPr>
        <p:spPr>
          <a:xfrm>
            <a:off x="6323137" y="2253206"/>
            <a:ext cx="2382619" cy="229757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482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D4FB4-D504-F1BE-1F12-63BEEB73E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EB877A06-F49C-CD20-50EF-B8F7C9744B13}"/>
              </a:ext>
            </a:extLst>
          </p:cNvPr>
          <p:cNvSpPr/>
          <p:nvPr/>
        </p:nvSpPr>
        <p:spPr>
          <a:xfrm>
            <a:off x="-26802" y="45"/>
            <a:ext cx="9335910" cy="594360"/>
          </a:xfrm>
          <a:prstGeom prst="rect">
            <a:avLst/>
          </a:prstGeom>
          <a:solidFill>
            <a:schemeClr val="accent3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18" name="图片 17" descr="921a026d-0345-47eb-b62e-2808c0a4e7ba">
            <a:extLst>
              <a:ext uri="{FF2B5EF4-FFF2-40B4-BE49-F238E27FC236}">
                <a16:creationId xmlns:a16="http://schemas.microsoft.com/office/drawing/2014/main" id="{4D488C99-FF6F-35F0-EEE4-C8807B656FF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000"/>
                    </a14:imgEffect>
                    <a14:imgEffect>
                      <a14:saturation sat="15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9144000" cy="5120897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4DB09DBE-C94E-67DA-68A1-93FC2AF7BAA0}"/>
              </a:ext>
            </a:extLst>
          </p:cNvPr>
          <p:cNvSpPr txBox="1"/>
          <p:nvPr/>
        </p:nvSpPr>
        <p:spPr>
          <a:xfrm>
            <a:off x="1368270" y="1885038"/>
            <a:ext cx="3272883" cy="1345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2400" b="1" dirty="0">
                <a:solidFill>
                  <a:srgbClr val="223A2E"/>
                </a:solidFill>
                <a:latin typeface="Aptos"/>
              </a:rPr>
              <a:t>Implemention</a:t>
            </a:r>
          </a:p>
          <a:p>
            <a:pPr algn="ctr">
              <a:lnSpc>
                <a:spcPct val="115000"/>
              </a:lnSpc>
            </a:pPr>
            <a:r>
              <a:rPr lang="en-US" altLang="zh-CN" sz="2400" b="1" dirty="0">
                <a:solidFill>
                  <a:srgbClr val="223A2E"/>
                </a:solidFill>
                <a:latin typeface="Aptos"/>
              </a:rPr>
              <a:t>&amp;</a:t>
            </a:r>
          </a:p>
          <a:p>
            <a:pPr algn="ctr">
              <a:lnSpc>
                <a:spcPct val="115000"/>
              </a:lnSpc>
            </a:pPr>
            <a:r>
              <a:rPr lang="en-US" altLang="zh-CN" sz="2400" b="1" dirty="0">
                <a:solidFill>
                  <a:srgbClr val="223A2E"/>
                </a:solidFill>
                <a:latin typeface="Aptos"/>
              </a:rPr>
              <a:t>Demonstration</a:t>
            </a:r>
          </a:p>
        </p:txBody>
      </p:sp>
      <p:sp>
        <p:nvSpPr>
          <p:cNvPr id="29" name="文本框 9">
            <a:extLst>
              <a:ext uri="{FF2B5EF4-FFF2-40B4-BE49-F238E27FC236}">
                <a16:creationId xmlns:a16="http://schemas.microsoft.com/office/drawing/2014/main" id="{08A6A62B-4B47-C3D5-C40D-68CF12ACC7B8}"/>
              </a:ext>
            </a:extLst>
          </p:cNvPr>
          <p:cNvSpPr txBox="1"/>
          <p:nvPr/>
        </p:nvSpPr>
        <p:spPr>
          <a:xfrm>
            <a:off x="76534" y="1885038"/>
            <a:ext cx="2070075" cy="496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400" b="1" dirty="0">
                <a:solidFill>
                  <a:schemeClr val="tx1"/>
                </a:solidFill>
                <a:latin typeface="Aptos"/>
              </a:rPr>
              <a:t>0</a:t>
            </a:r>
            <a:r>
              <a:rPr lang="en-US" sz="2400" b="1" dirty="0">
                <a:solidFill>
                  <a:schemeClr val="tx1"/>
                </a:solidFill>
                <a:latin typeface="Aptos"/>
              </a:rPr>
              <a:t>4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/>
              <a:cs typeface="+mn-ea"/>
              <a:sym typeface="+mn-lt"/>
            </a:endParaRPr>
          </a:p>
        </p:txBody>
      </p:sp>
      <p:pic>
        <p:nvPicPr>
          <p:cNvPr id="2" name="图片 1" descr="2003-logo-red-1000x1000_副本">
            <a:extLst>
              <a:ext uri="{FF2B5EF4-FFF2-40B4-BE49-F238E27FC236}">
                <a16:creationId xmlns:a16="http://schemas.microsoft.com/office/drawing/2014/main" id="{CFAB3CD9-CB9C-E3EB-F2CD-38AA22CEE8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833" t="34833" r="11565" b="37454"/>
          <a:stretch>
            <a:fillRect/>
          </a:stretch>
        </p:blipFill>
        <p:spPr>
          <a:xfrm>
            <a:off x="-104123" y="-53264"/>
            <a:ext cx="2682875" cy="97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339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74000">
              <a:schemeClr val="accent6">
                <a:lumMod val="40000"/>
                <a:lumOff val="60000"/>
              </a:schemeClr>
            </a:gs>
            <a:gs pos="83000">
              <a:schemeClr val="accent6">
                <a:lumMod val="60000"/>
                <a:lumOff val="40000"/>
              </a:schemeClr>
            </a:gs>
            <a:gs pos="100000">
              <a:schemeClr val="accent6">
                <a:lumMod val="50000"/>
              </a:schemeClr>
            </a:gs>
          </a:gsLst>
          <a:lin ang="96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61942F-829B-7AA6-9652-0EADD544D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E61CE0AB-92F8-A957-854E-D6D0EB8AF367}"/>
              </a:ext>
            </a:extLst>
          </p:cNvPr>
          <p:cNvSpPr/>
          <p:nvPr/>
        </p:nvSpPr>
        <p:spPr>
          <a:xfrm>
            <a:off x="-26802" y="45"/>
            <a:ext cx="9335910" cy="594360"/>
          </a:xfrm>
          <a:prstGeom prst="rect">
            <a:avLst/>
          </a:prstGeom>
          <a:solidFill>
            <a:schemeClr val="accent3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4CA8B52-4CBE-BB92-3A07-F4559F2053A3}"/>
              </a:ext>
            </a:extLst>
          </p:cNvPr>
          <p:cNvSpPr/>
          <p:nvPr/>
        </p:nvSpPr>
        <p:spPr>
          <a:xfrm>
            <a:off x="86868" y="649874"/>
            <a:ext cx="4384548" cy="261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altLang="zh-CN" sz="1400" b="1" dirty="0">
                <a:solidFill>
                  <a:srgbClr val="223A2E"/>
                </a:solidFill>
                <a:latin typeface="Aptos"/>
              </a:rPr>
              <a:t>4.1  How it Works - Public Verification (Read)</a:t>
            </a:r>
            <a:endParaRPr kumimoji="1" lang="en-US" altLang="zh-CN" b="1" dirty="0">
              <a:solidFill>
                <a:srgbClr val="9B1313"/>
              </a:solidFill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E0E31D6-673E-C8F2-3EB9-A2E296D70B7F}"/>
              </a:ext>
            </a:extLst>
          </p:cNvPr>
          <p:cNvSpPr/>
          <p:nvPr/>
        </p:nvSpPr>
        <p:spPr>
          <a:xfrm>
            <a:off x="5661749" y="45"/>
            <a:ext cx="1314103" cy="5619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6AFB4F7-EB69-3B0F-F69C-7343D6A019D6}"/>
              </a:ext>
            </a:extLst>
          </p:cNvPr>
          <p:cNvSpPr txBox="1"/>
          <p:nvPr/>
        </p:nvSpPr>
        <p:spPr>
          <a:xfrm>
            <a:off x="1650512" y="129499"/>
            <a:ext cx="1415024" cy="27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1. Background</a:t>
            </a:r>
            <a:endParaRPr kumimoji="1" lang="en-US" altLang="zh-CN" sz="1600" b="1" dirty="0">
              <a:solidFill>
                <a:schemeClr val="bg1"/>
              </a:solidFill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62BB97-75FD-3BE8-1BBD-3A4CE02AC37C}"/>
              </a:ext>
            </a:extLst>
          </p:cNvPr>
          <p:cNvSpPr txBox="1"/>
          <p:nvPr/>
        </p:nvSpPr>
        <p:spPr>
          <a:xfrm>
            <a:off x="3002321" y="148284"/>
            <a:ext cx="918212" cy="285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2. </a:t>
            </a:r>
            <a:r>
              <a:rPr lang="en-US" sz="1100" b="1" dirty="0">
                <a:solidFill>
                  <a:srgbClr val="5A5F63"/>
                </a:solidFill>
                <a:latin typeface="Aptos"/>
              </a:rPr>
              <a:t>Need</a:t>
            </a:r>
            <a:endParaRPr kumimoji="1" lang="en-US" sz="1100" b="1" dirty="0">
              <a:solidFill>
                <a:srgbClr val="5A5F63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2E82B01-76FC-17F0-C645-FE3D3EF24AA9}"/>
              </a:ext>
            </a:extLst>
          </p:cNvPr>
          <p:cNvSpPr txBox="1"/>
          <p:nvPr/>
        </p:nvSpPr>
        <p:spPr>
          <a:xfrm>
            <a:off x="4332035" y="142559"/>
            <a:ext cx="918212" cy="285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3. </a:t>
            </a:r>
            <a:r>
              <a:rPr lang="en-US" sz="1100" b="1" dirty="0">
                <a:solidFill>
                  <a:srgbClr val="5A5F63"/>
                </a:solidFill>
                <a:latin typeface="Aptos"/>
              </a:rPr>
              <a:t>Design</a:t>
            </a:r>
            <a:endParaRPr kumimoji="1" lang="en-US" sz="1100" b="1" dirty="0">
              <a:solidFill>
                <a:srgbClr val="5A5F63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8A07B19-D823-9254-3031-31FEAF61E93E}"/>
              </a:ext>
            </a:extLst>
          </p:cNvPr>
          <p:cNvSpPr txBox="1"/>
          <p:nvPr/>
        </p:nvSpPr>
        <p:spPr>
          <a:xfrm>
            <a:off x="5646138" y="141341"/>
            <a:ext cx="1706578" cy="277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4. </a:t>
            </a:r>
            <a:r>
              <a:rPr lang="en-US" sz="1100" b="1" dirty="0">
                <a:solidFill>
                  <a:srgbClr val="5A5F63"/>
                </a:solidFill>
                <a:latin typeface="Aptos"/>
              </a:rPr>
              <a:t>Implementation</a:t>
            </a:r>
            <a:endParaRPr kumimoji="1" lang="en-US" sz="1100" b="1" dirty="0">
              <a:solidFill>
                <a:srgbClr val="5A5F63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pic>
        <p:nvPicPr>
          <p:cNvPr id="24" name="图片 23" descr="2003-logo-red-1000x1000_副本">
            <a:extLst>
              <a:ext uri="{FF2B5EF4-FFF2-40B4-BE49-F238E27FC236}">
                <a16:creationId xmlns:a16="http://schemas.microsoft.com/office/drawing/2014/main" id="{4D008EB9-8198-7BAA-BF1B-4386DE8338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833" t="34833" r="11565" b="37454"/>
          <a:stretch>
            <a:fillRect/>
          </a:stretch>
        </p:blipFill>
        <p:spPr>
          <a:xfrm>
            <a:off x="0" y="-69851"/>
            <a:ext cx="1624080" cy="631825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033A1E7A-5515-AED0-F1E7-1BEE461AB1E6}"/>
              </a:ext>
            </a:extLst>
          </p:cNvPr>
          <p:cNvSpPr txBox="1"/>
          <p:nvPr/>
        </p:nvSpPr>
        <p:spPr>
          <a:xfrm>
            <a:off x="7288658" y="142559"/>
            <a:ext cx="1215262" cy="27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5. Conclusion</a:t>
            </a:r>
            <a:endParaRPr kumimoji="1" lang="en-US" altLang="zh-CN" sz="1600" b="1" dirty="0">
              <a:solidFill>
                <a:schemeClr val="tx1"/>
              </a:solidFill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cxnSp>
        <p:nvCxnSpPr>
          <p:cNvPr id="18" name="直线连接符 11">
            <a:extLst>
              <a:ext uri="{FF2B5EF4-FFF2-40B4-BE49-F238E27FC236}">
                <a16:creationId xmlns:a16="http://schemas.microsoft.com/office/drawing/2014/main" id="{087B25E0-FD81-1F65-49F1-53574329639D}"/>
              </a:ext>
            </a:extLst>
          </p:cNvPr>
          <p:cNvCxnSpPr/>
          <p:nvPr/>
        </p:nvCxnSpPr>
        <p:spPr>
          <a:xfrm>
            <a:off x="126492" y="911296"/>
            <a:ext cx="5105400" cy="0"/>
          </a:xfrm>
          <a:prstGeom prst="line">
            <a:avLst/>
          </a:prstGeom>
          <a:ln w="25400">
            <a:solidFill>
              <a:srgbClr val="77C4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388D3872-6637-E257-EE91-B547FC7A3368}"/>
              </a:ext>
            </a:extLst>
          </p:cNvPr>
          <p:cNvSpPr txBox="1"/>
          <p:nvPr/>
        </p:nvSpPr>
        <p:spPr>
          <a:xfrm>
            <a:off x="252194" y="1237123"/>
            <a:ext cx="2529436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ptos" panose="020B0004020202020204" pitchFamily="34" charset="0"/>
              </a:rPr>
              <a:t>Wallet</a:t>
            </a:r>
            <a:r>
              <a:rPr lang="en-US" altLang="zh-CN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latin typeface="Aptos" panose="020B0004020202020204" pitchFamily="34" charset="0"/>
              </a:rPr>
              <a:t>Authentication</a:t>
            </a:r>
            <a:endParaRPr lang="zh-CN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9442790-6334-04E5-887D-2CA5A3B28DD8}"/>
              </a:ext>
            </a:extLst>
          </p:cNvPr>
          <p:cNvSpPr txBox="1"/>
          <p:nvPr/>
        </p:nvSpPr>
        <p:spPr>
          <a:xfrm>
            <a:off x="4572000" y="1281396"/>
            <a:ext cx="2529436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ptos" panose="020B0004020202020204" pitchFamily="34" charset="0"/>
              </a:rPr>
              <a:t>IPFS Upload</a:t>
            </a:r>
            <a:endParaRPr lang="zh-CN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19CBD23-B1C2-C05C-490F-5CE5D6701B63}"/>
              </a:ext>
            </a:extLst>
          </p:cNvPr>
          <p:cNvSpPr txBox="1"/>
          <p:nvPr/>
        </p:nvSpPr>
        <p:spPr>
          <a:xfrm>
            <a:off x="271898" y="3278387"/>
            <a:ext cx="2529436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ptos" panose="020B0004020202020204" pitchFamily="34" charset="0"/>
              </a:rPr>
              <a:t>Blockchain Recording</a:t>
            </a:r>
            <a:endParaRPr lang="zh-CN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3654A2-75FB-1983-7A37-4DE9064D7C10}"/>
              </a:ext>
            </a:extLst>
          </p:cNvPr>
          <p:cNvSpPr txBox="1"/>
          <p:nvPr/>
        </p:nvSpPr>
        <p:spPr>
          <a:xfrm>
            <a:off x="4569005" y="3274583"/>
            <a:ext cx="2529436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ptos" panose="020B0004020202020204" pitchFamily="34" charset="0"/>
              </a:rPr>
              <a:t>Event Emission</a:t>
            </a:r>
            <a:endParaRPr lang="zh-CN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7D50495-12D4-17B7-E337-8696414FCE63}"/>
              </a:ext>
            </a:extLst>
          </p:cNvPr>
          <p:cNvSpPr txBox="1"/>
          <p:nvPr/>
        </p:nvSpPr>
        <p:spPr>
          <a:xfrm>
            <a:off x="243717" y="1734426"/>
            <a:ext cx="3491347" cy="7386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Manufacturers securely connect to the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DApp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using the MetaMask wallet on the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Sepolia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testnet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78B14FF-6CF4-FDB4-01D5-35B674933DB3}"/>
              </a:ext>
            </a:extLst>
          </p:cNvPr>
          <p:cNvSpPr txBox="1"/>
          <p:nvPr/>
        </p:nvSpPr>
        <p:spPr>
          <a:xfrm>
            <a:off x="4572000" y="1781458"/>
            <a:ext cx="4273175" cy="7386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Structured form data is serialized into a JSON object and uploaded to IPFS, returning a unique Content Identifier (CID).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D953F67-D903-D262-62DF-F431D2E06B61}"/>
              </a:ext>
            </a:extLst>
          </p:cNvPr>
          <p:cNvSpPr txBox="1"/>
          <p:nvPr/>
        </p:nvSpPr>
        <p:spPr>
          <a:xfrm>
            <a:off x="252194" y="3816595"/>
            <a:ext cx="3748680" cy="7386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The client locally calculates the keccak256 metadata hash and triggers the </a:t>
            </a:r>
            <a:r>
              <a:rPr lang="en-US" altLang="zh-CN" dirty="0" err="1"/>
              <a:t>registerPassport</a:t>
            </a:r>
            <a:r>
              <a:rPr lang="en-US" altLang="zh-CN" dirty="0"/>
              <a:t>() smart contract function.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415991F-6835-9D83-006C-EEEC0A07C179}"/>
              </a:ext>
            </a:extLst>
          </p:cNvPr>
          <p:cNvSpPr txBox="1"/>
          <p:nvPr/>
        </p:nvSpPr>
        <p:spPr>
          <a:xfrm>
            <a:off x="4569005" y="3816595"/>
            <a:ext cx="4043503" cy="7386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A </a:t>
            </a:r>
            <a:r>
              <a:rPr lang="en-US" altLang="zh-CN" dirty="0" err="1"/>
              <a:t>PassportIssued</a:t>
            </a:r>
            <a:r>
              <a:rPr lang="en-US" altLang="zh-CN" dirty="0"/>
              <a:t> event is emitted on-chain, and a verifiable QR code is generated for the physical product.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4957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74000">
              <a:schemeClr val="accent6">
                <a:lumMod val="40000"/>
                <a:lumOff val="60000"/>
              </a:schemeClr>
            </a:gs>
            <a:gs pos="83000">
              <a:schemeClr val="accent6">
                <a:lumMod val="60000"/>
                <a:lumOff val="40000"/>
              </a:schemeClr>
            </a:gs>
            <a:gs pos="100000">
              <a:schemeClr val="accent6">
                <a:lumMod val="50000"/>
              </a:schemeClr>
            </a:gs>
          </a:gsLst>
          <a:lin ang="102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5747F2-C26B-F58D-1FED-AF15C8AD6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F9DC2D1B-5778-9E67-AB5A-1CCAFB4277CF}"/>
              </a:ext>
            </a:extLst>
          </p:cNvPr>
          <p:cNvSpPr/>
          <p:nvPr/>
        </p:nvSpPr>
        <p:spPr>
          <a:xfrm>
            <a:off x="-26802" y="45"/>
            <a:ext cx="9335910" cy="594360"/>
          </a:xfrm>
          <a:prstGeom prst="rect">
            <a:avLst/>
          </a:prstGeom>
          <a:solidFill>
            <a:schemeClr val="accent3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F482117-BC19-7B7C-CB64-46438925F2FC}"/>
              </a:ext>
            </a:extLst>
          </p:cNvPr>
          <p:cNvSpPr/>
          <p:nvPr/>
        </p:nvSpPr>
        <p:spPr>
          <a:xfrm>
            <a:off x="86868" y="649874"/>
            <a:ext cx="4384548" cy="261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altLang="zh-CN" sz="1400" b="1" dirty="0">
                <a:solidFill>
                  <a:srgbClr val="223A2E"/>
                </a:solidFill>
                <a:latin typeface="Aptos"/>
              </a:rPr>
              <a:t>4.2  How it Works - Public Verification (Write)</a:t>
            </a:r>
            <a:endParaRPr kumimoji="1" lang="en-US" altLang="zh-CN" b="1" dirty="0">
              <a:solidFill>
                <a:srgbClr val="9B1313"/>
              </a:solidFill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1629771-03B6-E3AA-CF9D-8A3837BCD66A}"/>
              </a:ext>
            </a:extLst>
          </p:cNvPr>
          <p:cNvSpPr/>
          <p:nvPr/>
        </p:nvSpPr>
        <p:spPr>
          <a:xfrm>
            <a:off x="5661749" y="45"/>
            <a:ext cx="1314103" cy="5619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096D309-AA9E-4B48-FEF6-D5AC9590275B}"/>
              </a:ext>
            </a:extLst>
          </p:cNvPr>
          <p:cNvSpPr txBox="1"/>
          <p:nvPr/>
        </p:nvSpPr>
        <p:spPr>
          <a:xfrm>
            <a:off x="1650512" y="129499"/>
            <a:ext cx="1415024" cy="27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1. Background</a:t>
            </a:r>
            <a:endParaRPr kumimoji="1" lang="en-US" altLang="zh-CN" sz="1600" b="1" dirty="0">
              <a:solidFill>
                <a:schemeClr val="bg1"/>
              </a:solidFill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7FA7B9A-9089-0593-E0CD-0704CEBEA6FC}"/>
              </a:ext>
            </a:extLst>
          </p:cNvPr>
          <p:cNvSpPr txBox="1"/>
          <p:nvPr/>
        </p:nvSpPr>
        <p:spPr>
          <a:xfrm>
            <a:off x="3002321" y="148284"/>
            <a:ext cx="918212" cy="285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2. </a:t>
            </a:r>
            <a:r>
              <a:rPr lang="en-US" sz="1100" b="1" dirty="0">
                <a:solidFill>
                  <a:srgbClr val="5A5F63"/>
                </a:solidFill>
                <a:latin typeface="Aptos"/>
              </a:rPr>
              <a:t>Need</a:t>
            </a:r>
            <a:endParaRPr kumimoji="1" lang="en-US" sz="1100" b="1" dirty="0">
              <a:solidFill>
                <a:srgbClr val="5A5F63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DBE7341-70E9-300A-F874-12D040CE45DB}"/>
              </a:ext>
            </a:extLst>
          </p:cNvPr>
          <p:cNvSpPr txBox="1"/>
          <p:nvPr/>
        </p:nvSpPr>
        <p:spPr>
          <a:xfrm>
            <a:off x="4332035" y="142559"/>
            <a:ext cx="918212" cy="285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3. </a:t>
            </a:r>
            <a:r>
              <a:rPr lang="en-US" sz="1100" b="1" dirty="0">
                <a:solidFill>
                  <a:srgbClr val="5A5F63"/>
                </a:solidFill>
                <a:latin typeface="Aptos"/>
              </a:rPr>
              <a:t>Design</a:t>
            </a:r>
            <a:endParaRPr kumimoji="1" lang="en-US" sz="1100" b="1" dirty="0">
              <a:solidFill>
                <a:srgbClr val="5A5F63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C64DB3D-EC20-F5EF-08B5-0F23E8434B5B}"/>
              </a:ext>
            </a:extLst>
          </p:cNvPr>
          <p:cNvSpPr txBox="1"/>
          <p:nvPr/>
        </p:nvSpPr>
        <p:spPr>
          <a:xfrm>
            <a:off x="5646138" y="141341"/>
            <a:ext cx="1706578" cy="277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4. </a:t>
            </a:r>
            <a:r>
              <a:rPr lang="en-US" sz="1100" b="1" dirty="0">
                <a:solidFill>
                  <a:srgbClr val="5A5F63"/>
                </a:solidFill>
                <a:latin typeface="Aptos"/>
              </a:rPr>
              <a:t>Implementation</a:t>
            </a:r>
            <a:endParaRPr kumimoji="1" lang="en-US" sz="1100" b="1" dirty="0">
              <a:solidFill>
                <a:srgbClr val="5A5F63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pic>
        <p:nvPicPr>
          <p:cNvPr id="24" name="图片 23" descr="2003-logo-red-1000x1000_副本">
            <a:extLst>
              <a:ext uri="{FF2B5EF4-FFF2-40B4-BE49-F238E27FC236}">
                <a16:creationId xmlns:a16="http://schemas.microsoft.com/office/drawing/2014/main" id="{2D54E140-4E82-48AA-2637-8753CA2D94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833" t="34833" r="11565" b="37454"/>
          <a:stretch>
            <a:fillRect/>
          </a:stretch>
        </p:blipFill>
        <p:spPr>
          <a:xfrm>
            <a:off x="0" y="-69851"/>
            <a:ext cx="1624080" cy="631825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5D336C36-8D0C-C9B4-2C08-2729CC9C51A6}"/>
              </a:ext>
            </a:extLst>
          </p:cNvPr>
          <p:cNvSpPr txBox="1"/>
          <p:nvPr/>
        </p:nvSpPr>
        <p:spPr>
          <a:xfrm>
            <a:off x="7288658" y="142559"/>
            <a:ext cx="1215262" cy="27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5. Conclusion</a:t>
            </a:r>
            <a:endParaRPr kumimoji="1" lang="en-US" altLang="zh-CN" sz="1600" b="1" dirty="0">
              <a:solidFill>
                <a:schemeClr val="tx1"/>
              </a:solidFill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cxnSp>
        <p:nvCxnSpPr>
          <p:cNvPr id="18" name="直线连接符 11">
            <a:extLst>
              <a:ext uri="{FF2B5EF4-FFF2-40B4-BE49-F238E27FC236}">
                <a16:creationId xmlns:a16="http://schemas.microsoft.com/office/drawing/2014/main" id="{EF486390-B50D-7576-99BF-806EDF53560D}"/>
              </a:ext>
            </a:extLst>
          </p:cNvPr>
          <p:cNvCxnSpPr/>
          <p:nvPr/>
        </p:nvCxnSpPr>
        <p:spPr>
          <a:xfrm>
            <a:off x="126492" y="911296"/>
            <a:ext cx="5105400" cy="0"/>
          </a:xfrm>
          <a:prstGeom prst="line">
            <a:avLst/>
          </a:prstGeom>
          <a:ln w="25400">
            <a:solidFill>
              <a:srgbClr val="77C4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09DE681E-51B6-BCED-CEEF-D6A196C35AF4}"/>
              </a:ext>
            </a:extLst>
          </p:cNvPr>
          <p:cNvSpPr txBox="1"/>
          <p:nvPr/>
        </p:nvSpPr>
        <p:spPr>
          <a:xfrm>
            <a:off x="152736" y="1086513"/>
            <a:ext cx="2306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Wallet-Free Search:</a:t>
            </a:r>
            <a:endParaRPr lang="zh-CN" altLang="en-US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DE76427-300F-6696-122C-781C7A99EC9D}"/>
              </a:ext>
            </a:extLst>
          </p:cNvPr>
          <p:cNvSpPr txBox="1"/>
          <p:nvPr/>
        </p:nvSpPr>
        <p:spPr>
          <a:xfrm>
            <a:off x="152736" y="3378251"/>
            <a:ext cx="4048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Limitation : Mainnet </a:t>
            </a:r>
            <a:r>
              <a:rPr lang="en-US" altLang="zh-CN" b="1" dirty="0"/>
              <a:t>Congestion</a:t>
            </a:r>
            <a:r>
              <a:rPr lang="en-US" altLang="zh-CN" sz="1600" b="1" dirty="0"/>
              <a:t> &amp; Cost :</a:t>
            </a:r>
            <a:endParaRPr lang="zh-CN" altLang="en-US" sz="1600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0BCFAAE-3F8E-5241-E706-FE972CC8282B}"/>
              </a:ext>
            </a:extLst>
          </p:cNvPr>
          <p:cNvSpPr txBox="1"/>
          <p:nvPr/>
        </p:nvSpPr>
        <p:spPr>
          <a:xfrm>
            <a:off x="131415" y="2200146"/>
            <a:ext cx="2328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Client-Side Validation:</a:t>
            </a:r>
            <a:endParaRPr lang="zh-CN" altLang="en-US" b="1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F44AFF7-4435-4D36-CFEB-18B82C64CC40}"/>
              </a:ext>
            </a:extLst>
          </p:cNvPr>
          <p:cNvSpPr txBox="1"/>
          <p:nvPr/>
        </p:nvSpPr>
        <p:spPr>
          <a:xfrm>
            <a:off x="190671" y="1444530"/>
            <a:ext cx="105991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ptos" panose="020B0004020202020204" pitchFamily="34" charset="0"/>
              </a:rPr>
              <a:t>Users simply input the Product ID or scan the QR code to fetch the immutable on-chain record</a:t>
            </a:r>
            <a:r>
              <a:rPr lang="en-US" altLang="zh-CN" sz="1400" dirty="0"/>
              <a:t>.</a:t>
            </a:r>
            <a:endParaRPr lang="zh-CN" altLang="en-US" sz="1400" dirty="0"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1239DCA-8DAA-EC6F-63A1-13F1CEC16BE0}"/>
              </a:ext>
            </a:extLst>
          </p:cNvPr>
          <p:cNvSpPr txBox="1"/>
          <p:nvPr/>
        </p:nvSpPr>
        <p:spPr>
          <a:xfrm>
            <a:off x="190671" y="2678762"/>
            <a:ext cx="105893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ptos" panose="020B0004020202020204" pitchFamily="34" charset="0"/>
                <a:ea typeface="Arial Unicode MS" panose="020B0604020202020204" charset="-122"/>
                <a:cs typeface="Arial Unicode MS" panose="020B0604020202020204" charset="-122"/>
              </a:rPr>
              <a:t>The frontend independently fetches the full JSON document from IPFS and recalculates its hash locally.</a:t>
            </a:r>
            <a:endParaRPr lang="zh-CN" altLang="en-US" sz="1400" dirty="0">
              <a:latin typeface="Aptos" panose="020B0004020202020204" pitchFamily="34" charset="0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DCBB93D-0710-F43A-CBE9-B5688BDBA873}"/>
              </a:ext>
            </a:extLst>
          </p:cNvPr>
          <p:cNvSpPr txBox="1"/>
          <p:nvPr/>
        </p:nvSpPr>
        <p:spPr>
          <a:xfrm>
            <a:off x="190671" y="3852959"/>
            <a:ext cx="7718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ptos" panose="020B0004020202020204" pitchFamily="34" charset="0"/>
                <a:ea typeface="Arial Unicode MS" panose="020B0604020202020204" charset="-122"/>
                <a:cs typeface="Arial Unicode MS" panose="020B0604020202020204" charset="-122"/>
              </a:rPr>
              <a:t>The system compares the local hash against the immutable on-chain hash. If they match, a green "Integrity Badge" is displayed</a:t>
            </a:r>
            <a:r>
              <a:rPr lang="en-US" altLang="zh-CN" sz="1400" dirty="0">
                <a:latin typeface="Aptos" panose="020B0004020202020204" pitchFamily="34" charset="0"/>
              </a:rPr>
              <a:t>. </a:t>
            </a:r>
            <a:endParaRPr lang="zh-CN" altLang="en-US" sz="1400" dirty="0">
              <a:latin typeface="Aptos" panose="020B0004020202020204" pitchFamily="34" charset="0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cxnSp>
        <p:nvCxnSpPr>
          <p:cNvPr id="29" name="直线连接符 27">
            <a:extLst>
              <a:ext uri="{FF2B5EF4-FFF2-40B4-BE49-F238E27FC236}">
                <a16:creationId xmlns:a16="http://schemas.microsoft.com/office/drawing/2014/main" id="{EAC44900-EF46-B47C-3274-0576950ED07B}"/>
              </a:ext>
            </a:extLst>
          </p:cNvPr>
          <p:cNvCxnSpPr>
            <a:cxnSpLocks/>
          </p:cNvCxnSpPr>
          <p:nvPr/>
        </p:nvCxnSpPr>
        <p:spPr>
          <a:xfrm>
            <a:off x="190671" y="2003701"/>
            <a:ext cx="84440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accent6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27">
            <a:extLst>
              <a:ext uri="{FF2B5EF4-FFF2-40B4-BE49-F238E27FC236}">
                <a16:creationId xmlns:a16="http://schemas.microsoft.com/office/drawing/2014/main" id="{187E2F2F-0E2F-B4F1-2095-C68C7103FEF1}"/>
              </a:ext>
            </a:extLst>
          </p:cNvPr>
          <p:cNvCxnSpPr>
            <a:cxnSpLocks/>
          </p:cNvCxnSpPr>
          <p:nvPr/>
        </p:nvCxnSpPr>
        <p:spPr>
          <a:xfrm>
            <a:off x="190671" y="3249909"/>
            <a:ext cx="84440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accent6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1079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2E79B-610D-A757-0A05-0A6FCA57C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B10F5DAA-8E38-BCB5-7168-57E36FCFD1FD}"/>
              </a:ext>
            </a:extLst>
          </p:cNvPr>
          <p:cNvSpPr/>
          <p:nvPr/>
        </p:nvSpPr>
        <p:spPr>
          <a:xfrm>
            <a:off x="-26802" y="45"/>
            <a:ext cx="9335910" cy="594360"/>
          </a:xfrm>
          <a:prstGeom prst="rect">
            <a:avLst/>
          </a:prstGeom>
          <a:solidFill>
            <a:schemeClr val="accent3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18" name="图片 17" descr="921a026d-0345-47eb-b62e-2808c0a4e7ba">
            <a:extLst>
              <a:ext uri="{FF2B5EF4-FFF2-40B4-BE49-F238E27FC236}">
                <a16:creationId xmlns:a16="http://schemas.microsoft.com/office/drawing/2014/main" id="{FF4410AC-8ED6-8291-7512-45574FFFDB9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000"/>
                    </a14:imgEffect>
                    <a14:imgEffect>
                      <a14:saturation sat="15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1301"/>
            <a:ext cx="9144000" cy="5120897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C8A18221-6622-A741-959A-71A1E546496C}"/>
              </a:ext>
            </a:extLst>
          </p:cNvPr>
          <p:cNvSpPr txBox="1"/>
          <p:nvPr/>
        </p:nvSpPr>
        <p:spPr>
          <a:xfrm>
            <a:off x="1368270" y="1885038"/>
            <a:ext cx="3272883" cy="1345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2400" b="1" dirty="0">
                <a:solidFill>
                  <a:srgbClr val="223A2E"/>
                </a:solidFill>
                <a:latin typeface="Aptos"/>
              </a:rPr>
              <a:t>Evaluation, Reflection</a:t>
            </a:r>
          </a:p>
          <a:p>
            <a:pPr algn="ctr">
              <a:lnSpc>
                <a:spcPct val="115000"/>
              </a:lnSpc>
            </a:pPr>
            <a:r>
              <a:rPr lang="en-US" altLang="zh-CN" sz="2400" b="1" dirty="0">
                <a:solidFill>
                  <a:srgbClr val="223A2E"/>
                </a:solidFill>
                <a:latin typeface="Aptos"/>
              </a:rPr>
              <a:t>&amp;</a:t>
            </a:r>
          </a:p>
          <a:p>
            <a:pPr algn="ctr">
              <a:lnSpc>
                <a:spcPct val="115000"/>
              </a:lnSpc>
            </a:pPr>
            <a:r>
              <a:rPr lang="en-US" altLang="zh-CN" sz="2400" b="1" dirty="0">
                <a:solidFill>
                  <a:srgbClr val="223A2E"/>
                </a:solidFill>
                <a:latin typeface="Aptos"/>
              </a:rPr>
              <a:t>Future Work</a:t>
            </a:r>
          </a:p>
        </p:txBody>
      </p:sp>
      <p:sp>
        <p:nvSpPr>
          <p:cNvPr id="29" name="文本框 9">
            <a:extLst>
              <a:ext uri="{FF2B5EF4-FFF2-40B4-BE49-F238E27FC236}">
                <a16:creationId xmlns:a16="http://schemas.microsoft.com/office/drawing/2014/main" id="{9370F6A4-DA64-D33A-57AA-7646F9298B71}"/>
              </a:ext>
            </a:extLst>
          </p:cNvPr>
          <p:cNvSpPr txBox="1"/>
          <p:nvPr/>
        </p:nvSpPr>
        <p:spPr>
          <a:xfrm>
            <a:off x="76534" y="1885038"/>
            <a:ext cx="2070075" cy="496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400" b="1" dirty="0">
                <a:solidFill>
                  <a:schemeClr val="tx1"/>
                </a:solidFill>
                <a:latin typeface="Aptos"/>
              </a:rPr>
              <a:t>0</a:t>
            </a:r>
            <a:r>
              <a:rPr lang="en-US" sz="2400" b="1" dirty="0">
                <a:latin typeface="Aptos"/>
              </a:rPr>
              <a:t>5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/>
              <a:cs typeface="+mn-ea"/>
              <a:sym typeface="+mn-lt"/>
            </a:endParaRPr>
          </a:p>
        </p:txBody>
      </p:sp>
      <p:pic>
        <p:nvPicPr>
          <p:cNvPr id="2" name="图片 1" descr="2003-logo-red-1000x1000_副本">
            <a:extLst>
              <a:ext uri="{FF2B5EF4-FFF2-40B4-BE49-F238E27FC236}">
                <a16:creationId xmlns:a16="http://schemas.microsoft.com/office/drawing/2014/main" id="{24DF8641-022A-D424-93E5-B5C750A1067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833" t="34833" r="11565" b="37454"/>
          <a:stretch>
            <a:fillRect/>
          </a:stretch>
        </p:blipFill>
        <p:spPr>
          <a:xfrm>
            <a:off x="-104123" y="-53264"/>
            <a:ext cx="2682875" cy="97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633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74000">
              <a:schemeClr val="accent6">
                <a:lumMod val="40000"/>
                <a:lumOff val="60000"/>
              </a:schemeClr>
            </a:gs>
            <a:gs pos="83000">
              <a:schemeClr val="accent6">
                <a:lumMod val="60000"/>
                <a:lumOff val="40000"/>
              </a:schemeClr>
            </a:gs>
            <a:gs pos="100000">
              <a:schemeClr val="accent6">
                <a:lumMod val="50000"/>
              </a:schemeClr>
            </a:gs>
          </a:gsLst>
          <a:lin ang="108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B2823F-D6C5-425A-1357-818AD8ABA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11592D4E-6252-EF8C-5A8D-EB972662B591}"/>
              </a:ext>
            </a:extLst>
          </p:cNvPr>
          <p:cNvSpPr/>
          <p:nvPr/>
        </p:nvSpPr>
        <p:spPr>
          <a:xfrm>
            <a:off x="-26802" y="45"/>
            <a:ext cx="9335910" cy="594360"/>
          </a:xfrm>
          <a:prstGeom prst="rect">
            <a:avLst/>
          </a:prstGeom>
          <a:solidFill>
            <a:schemeClr val="accent3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290DD4C-FDE3-7BC3-50D5-9159235D7EA7}"/>
              </a:ext>
            </a:extLst>
          </p:cNvPr>
          <p:cNvSpPr/>
          <p:nvPr/>
        </p:nvSpPr>
        <p:spPr>
          <a:xfrm>
            <a:off x="86868" y="649874"/>
            <a:ext cx="4384548" cy="261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altLang="zh-CN" sz="1400" b="1" dirty="0">
                <a:solidFill>
                  <a:srgbClr val="223A2E"/>
                </a:solidFill>
                <a:latin typeface="Aptos"/>
              </a:rPr>
              <a:t>5.1  Evaluation Snapshot</a:t>
            </a:r>
            <a:endParaRPr kumimoji="1" lang="en-US" altLang="zh-CN" b="1" dirty="0">
              <a:solidFill>
                <a:srgbClr val="9B1313"/>
              </a:solidFill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4BF9103-883A-63F4-1C90-F4AA638B96D3}"/>
              </a:ext>
            </a:extLst>
          </p:cNvPr>
          <p:cNvSpPr/>
          <p:nvPr/>
        </p:nvSpPr>
        <p:spPr>
          <a:xfrm>
            <a:off x="7239237" y="8675"/>
            <a:ext cx="1314103" cy="5619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ED4964F-E234-3731-3BF9-3BA91C35BE5C}"/>
              </a:ext>
            </a:extLst>
          </p:cNvPr>
          <p:cNvSpPr txBox="1"/>
          <p:nvPr/>
        </p:nvSpPr>
        <p:spPr>
          <a:xfrm>
            <a:off x="1650512" y="129499"/>
            <a:ext cx="1415024" cy="27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1. Background</a:t>
            </a:r>
            <a:endParaRPr kumimoji="1" lang="en-US" altLang="zh-CN" sz="1600" b="1" dirty="0">
              <a:solidFill>
                <a:schemeClr val="bg1"/>
              </a:solidFill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B997403-C2DA-11FA-621F-35A0C514C92E}"/>
              </a:ext>
            </a:extLst>
          </p:cNvPr>
          <p:cNvSpPr txBox="1"/>
          <p:nvPr/>
        </p:nvSpPr>
        <p:spPr>
          <a:xfrm>
            <a:off x="3002321" y="148284"/>
            <a:ext cx="918212" cy="285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2. </a:t>
            </a:r>
            <a:r>
              <a:rPr lang="en-US" sz="1100" b="1" dirty="0">
                <a:solidFill>
                  <a:srgbClr val="5A5F63"/>
                </a:solidFill>
                <a:latin typeface="Aptos"/>
              </a:rPr>
              <a:t>Need</a:t>
            </a:r>
            <a:endParaRPr kumimoji="1" lang="en-US" sz="1100" b="1" dirty="0">
              <a:solidFill>
                <a:srgbClr val="5A5F63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E1FC067-B9EF-B165-FA84-BCB57FB5C16E}"/>
              </a:ext>
            </a:extLst>
          </p:cNvPr>
          <p:cNvSpPr txBox="1"/>
          <p:nvPr/>
        </p:nvSpPr>
        <p:spPr>
          <a:xfrm>
            <a:off x="4332035" y="142559"/>
            <a:ext cx="918212" cy="285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3. </a:t>
            </a:r>
            <a:r>
              <a:rPr lang="en-US" sz="1100" b="1" dirty="0">
                <a:solidFill>
                  <a:srgbClr val="5A5F63"/>
                </a:solidFill>
                <a:latin typeface="Aptos"/>
              </a:rPr>
              <a:t>Design</a:t>
            </a:r>
            <a:endParaRPr kumimoji="1" lang="en-US" sz="1100" b="1" dirty="0">
              <a:solidFill>
                <a:srgbClr val="5A5F63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A47A680-D194-CFC4-9709-A6193C545804}"/>
              </a:ext>
            </a:extLst>
          </p:cNvPr>
          <p:cNvSpPr txBox="1"/>
          <p:nvPr/>
        </p:nvSpPr>
        <p:spPr>
          <a:xfrm>
            <a:off x="5646138" y="141341"/>
            <a:ext cx="1706578" cy="277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4. </a:t>
            </a:r>
            <a:r>
              <a:rPr lang="en-US" sz="1100" b="1" dirty="0">
                <a:solidFill>
                  <a:srgbClr val="5A5F63"/>
                </a:solidFill>
                <a:latin typeface="Aptos"/>
              </a:rPr>
              <a:t>Implementation</a:t>
            </a:r>
            <a:endParaRPr kumimoji="1" lang="en-US" sz="1100" b="1" dirty="0">
              <a:solidFill>
                <a:srgbClr val="5A5F63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pic>
        <p:nvPicPr>
          <p:cNvPr id="24" name="图片 23" descr="2003-logo-red-1000x1000_副本">
            <a:extLst>
              <a:ext uri="{FF2B5EF4-FFF2-40B4-BE49-F238E27FC236}">
                <a16:creationId xmlns:a16="http://schemas.microsoft.com/office/drawing/2014/main" id="{5ED761DE-149C-92AA-E34F-31C473FF82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833" t="34833" r="11565" b="37454"/>
          <a:stretch>
            <a:fillRect/>
          </a:stretch>
        </p:blipFill>
        <p:spPr>
          <a:xfrm>
            <a:off x="0" y="-69851"/>
            <a:ext cx="1624080" cy="631825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751E94BD-AE70-FD6A-E094-F5CFFC009C28}"/>
              </a:ext>
            </a:extLst>
          </p:cNvPr>
          <p:cNvSpPr txBox="1"/>
          <p:nvPr/>
        </p:nvSpPr>
        <p:spPr>
          <a:xfrm>
            <a:off x="7288658" y="142559"/>
            <a:ext cx="1215262" cy="27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5. Conclusion</a:t>
            </a:r>
            <a:endParaRPr kumimoji="1" lang="en-US" altLang="zh-CN" sz="1600" b="1" dirty="0">
              <a:solidFill>
                <a:schemeClr val="tx1"/>
              </a:solidFill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cxnSp>
        <p:nvCxnSpPr>
          <p:cNvPr id="18" name="直线连接符 11">
            <a:extLst>
              <a:ext uri="{FF2B5EF4-FFF2-40B4-BE49-F238E27FC236}">
                <a16:creationId xmlns:a16="http://schemas.microsoft.com/office/drawing/2014/main" id="{8DA918ED-C825-4637-AFDB-DCE52828B6F5}"/>
              </a:ext>
            </a:extLst>
          </p:cNvPr>
          <p:cNvCxnSpPr/>
          <p:nvPr/>
        </p:nvCxnSpPr>
        <p:spPr>
          <a:xfrm>
            <a:off x="126492" y="911296"/>
            <a:ext cx="5105400" cy="0"/>
          </a:xfrm>
          <a:prstGeom prst="line">
            <a:avLst/>
          </a:prstGeom>
          <a:ln w="25400">
            <a:solidFill>
              <a:srgbClr val="77C4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图表 2" descr="e7d195523061f1c0eeea6093757869ed96c70d3a55043898177DBE978DF1F0B74FC812571F00AB6B97C820D3D6FF58C53BC7C157C3599131EAF3BCC75AA2AE0656FF004AE0DAAA90A2C06EBF5062302BCA8BF707A9561947B25B25C3C0B815CE5C660C0FA915AAF67F1A5C4B65AA1C9CBC2CA435DD964224D2DADAAB43CB7BFE6E965ED1DDECBE53C43FC06B1F768489">
            <a:extLst>
              <a:ext uri="{FF2B5EF4-FFF2-40B4-BE49-F238E27FC236}">
                <a16:creationId xmlns:a16="http://schemas.microsoft.com/office/drawing/2014/main" id="{D97964D4-7997-7C2C-E104-615A025EE9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8069859"/>
              </p:ext>
            </p:extLst>
          </p:nvPr>
        </p:nvGraphicFramePr>
        <p:xfrm>
          <a:off x="175319" y="896462"/>
          <a:ext cx="7035709" cy="2726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03C69894-5A83-0658-D209-7A8139BFF58B}"/>
              </a:ext>
            </a:extLst>
          </p:cNvPr>
          <p:cNvSpPr txBox="1"/>
          <p:nvPr/>
        </p:nvSpPr>
        <p:spPr>
          <a:xfrm>
            <a:off x="4970695" y="3969423"/>
            <a:ext cx="4131945" cy="418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Bef>
                <a:spcPts val="1000"/>
              </a:spcBef>
            </a:pPr>
            <a:r>
              <a:rPr lang="en-US" altLang="zh-CN" sz="2000" b="1" dirty="0">
                <a:solidFill>
                  <a:srgbClr val="9B1313"/>
                </a:solidFill>
                <a:latin typeface="微软雅黑" panose="020B0502040204020203" charset="-122"/>
                <a:ea typeface="微软雅黑" panose="020B0502040204020203" charset="-122"/>
              </a:rPr>
              <a:t>Smart Contract Security: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F48712-3120-DD45-FC02-3846C7BD7D29}"/>
              </a:ext>
            </a:extLst>
          </p:cNvPr>
          <p:cNvSpPr txBox="1"/>
          <p:nvPr/>
        </p:nvSpPr>
        <p:spPr>
          <a:xfrm>
            <a:off x="5059154" y="3703598"/>
            <a:ext cx="125239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Bef>
                <a:spcPts val="1000"/>
              </a:spcBef>
            </a:pPr>
            <a:r>
              <a:rPr sz="2000" b="1" dirty="0">
                <a:solidFill>
                  <a:srgbClr val="B82B37"/>
                </a:solidFill>
                <a:latin typeface="Aptos"/>
              </a:rPr>
              <a:t>125k</a:t>
            </a:r>
            <a:endParaRPr lang="zh-CN" altLang="en-US" sz="3600" b="1" dirty="0">
              <a:solidFill>
                <a:sysClr val="windowText" lastClr="000000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A9671FB-C9E9-2C46-C94E-45E4CA718C1B}"/>
              </a:ext>
            </a:extLst>
          </p:cNvPr>
          <p:cNvSpPr txBox="1"/>
          <p:nvPr/>
        </p:nvSpPr>
        <p:spPr>
          <a:xfrm>
            <a:off x="6474850" y="3696722"/>
            <a:ext cx="125239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Bef>
                <a:spcPts val="1000"/>
              </a:spcBef>
            </a:pPr>
            <a:r>
              <a:rPr sz="2000" b="1" dirty="0">
                <a:solidFill>
                  <a:srgbClr val="387A54"/>
                </a:solidFill>
                <a:latin typeface="Aptos"/>
              </a:rPr>
              <a:t>92k</a:t>
            </a:r>
            <a:endParaRPr lang="zh-CN" altLang="en-US" sz="3600" b="1" dirty="0">
              <a:solidFill>
                <a:sysClr val="windowText" lastClr="000000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193D815-5B29-8390-36B4-E9F545018215}"/>
              </a:ext>
            </a:extLst>
          </p:cNvPr>
          <p:cNvSpPr txBox="1"/>
          <p:nvPr/>
        </p:nvSpPr>
        <p:spPr>
          <a:xfrm>
            <a:off x="8056716" y="3703597"/>
            <a:ext cx="125239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Bef>
                <a:spcPts val="1000"/>
              </a:spcBef>
            </a:pPr>
            <a:r>
              <a:rPr sz="2000" b="1" dirty="0">
                <a:solidFill>
                  <a:srgbClr val="B82B37"/>
                </a:solidFill>
                <a:latin typeface="Aptos"/>
              </a:rPr>
              <a:t>26%↓</a:t>
            </a:r>
            <a:endParaRPr lang="zh-CN" altLang="en-US" sz="3600" b="1" dirty="0">
              <a:solidFill>
                <a:sysClr val="windowText" lastClr="000000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9" name="TextBox 50">
            <a:extLst>
              <a:ext uri="{FF2B5EF4-FFF2-40B4-BE49-F238E27FC236}">
                <a16:creationId xmlns:a16="http://schemas.microsoft.com/office/drawing/2014/main" id="{A4B67E19-3595-F8D3-C637-027C43F2CF93}"/>
              </a:ext>
            </a:extLst>
          </p:cNvPr>
          <p:cNvSpPr txBox="1"/>
          <p:nvPr/>
        </p:nvSpPr>
        <p:spPr>
          <a:xfrm>
            <a:off x="4567289" y="380907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dirty="0">
                <a:solidFill>
                  <a:srgbClr val="5A5F63"/>
                </a:solidFill>
                <a:latin typeface="Aptos"/>
              </a:rPr>
              <a:t>single </a:t>
            </a:r>
            <a:r>
              <a:rPr sz="950" b="0" dirty="0" err="1">
                <a:solidFill>
                  <a:srgbClr val="5A5F63"/>
                </a:solidFill>
                <a:latin typeface="Aptos"/>
              </a:rPr>
              <a:t>tx</a:t>
            </a:r>
            <a:r>
              <a:rPr sz="950" b="0" dirty="0">
                <a:solidFill>
                  <a:srgbClr val="5A5F63"/>
                </a:solidFill>
                <a:latin typeface="Aptos"/>
              </a:rPr>
              <a:t> gas</a:t>
            </a:r>
          </a:p>
        </p:txBody>
      </p:sp>
      <p:sp>
        <p:nvSpPr>
          <p:cNvPr id="10" name="TextBox 51">
            <a:extLst>
              <a:ext uri="{FF2B5EF4-FFF2-40B4-BE49-F238E27FC236}">
                <a16:creationId xmlns:a16="http://schemas.microsoft.com/office/drawing/2014/main" id="{0D002DC2-7B11-12D8-D6B2-7F601780D1CB}"/>
              </a:ext>
            </a:extLst>
          </p:cNvPr>
          <p:cNvSpPr txBox="1"/>
          <p:nvPr/>
        </p:nvSpPr>
        <p:spPr>
          <a:xfrm>
            <a:off x="5938889" y="3790007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dirty="0">
                <a:solidFill>
                  <a:srgbClr val="5A5F63"/>
                </a:solidFill>
                <a:latin typeface="Aptos"/>
              </a:rPr>
              <a:t>batch avg gas</a:t>
            </a:r>
          </a:p>
        </p:txBody>
      </p:sp>
      <p:sp>
        <p:nvSpPr>
          <p:cNvPr id="11" name="TextBox 52">
            <a:extLst>
              <a:ext uri="{FF2B5EF4-FFF2-40B4-BE49-F238E27FC236}">
                <a16:creationId xmlns:a16="http://schemas.microsoft.com/office/drawing/2014/main" id="{DDEE1541-3DC3-B06C-83C4-E95572AFB87A}"/>
              </a:ext>
            </a:extLst>
          </p:cNvPr>
          <p:cNvSpPr txBox="1"/>
          <p:nvPr/>
        </p:nvSpPr>
        <p:spPr>
          <a:xfrm>
            <a:off x="7385724" y="380532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dirty="0">
                <a:solidFill>
                  <a:srgbClr val="5A5F63"/>
                </a:solidFill>
                <a:latin typeface="Aptos"/>
              </a:rPr>
              <a:t>per-item saving</a:t>
            </a:r>
          </a:p>
        </p:txBody>
      </p:sp>
      <p:sp>
        <p:nvSpPr>
          <p:cNvPr id="12" name="TextBox 53">
            <a:extLst>
              <a:ext uri="{FF2B5EF4-FFF2-40B4-BE49-F238E27FC236}">
                <a16:creationId xmlns:a16="http://schemas.microsoft.com/office/drawing/2014/main" id="{8D687200-A235-E12D-EBE7-729A097F9EC6}"/>
              </a:ext>
            </a:extLst>
          </p:cNvPr>
          <p:cNvSpPr txBox="1"/>
          <p:nvPr/>
        </p:nvSpPr>
        <p:spPr>
          <a:xfrm>
            <a:off x="4704601" y="4333700"/>
            <a:ext cx="4398039" cy="804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019" b="1" dirty="0">
                <a:solidFill>
                  <a:srgbClr val="5A5F63"/>
                </a:solidFill>
                <a:latin typeface="Aptos"/>
              </a:rPr>
              <a:t>Re-</a:t>
            </a:r>
            <a:r>
              <a:rPr lang="en-US" sz="1019" b="1" dirty="0" err="1">
                <a:solidFill>
                  <a:srgbClr val="5A5F63"/>
                </a:solidFill>
                <a:latin typeface="Aptos"/>
              </a:rPr>
              <a:t>entrancy</a:t>
            </a:r>
            <a:r>
              <a:rPr lang="en-US" sz="1019" b="0" dirty="0">
                <a:solidFill>
                  <a:srgbClr val="5A5F63"/>
                </a:solidFill>
                <a:latin typeface="Aptos"/>
              </a:rPr>
              <a:t>: Mitigated as the contract neither accepts nor transfers Ether.  </a:t>
            </a:r>
            <a:r>
              <a:rPr lang="en-US" sz="1019" b="1" dirty="0">
                <a:solidFill>
                  <a:srgbClr val="5A5F63"/>
                </a:solidFill>
                <a:latin typeface="Aptos"/>
              </a:rPr>
              <a:t>Integer Overflow</a:t>
            </a:r>
            <a:r>
              <a:rPr lang="en-US" sz="1019" b="0" dirty="0">
                <a:solidFill>
                  <a:srgbClr val="5A5F63"/>
                </a:solidFill>
                <a:latin typeface="Aptos"/>
              </a:rPr>
              <a:t>: Prevented by Solidity 0.8.x’s built-in checked arithmetic.  </a:t>
            </a:r>
            <a:r>
              <a:rPr lang="en-US" sz="1019" b="1" dirty="0">
                <a:solidFill>
                  <a:srgbClr val="5A5F63"/>
                </a:solidFill>
                <a:latin typeface="Aptos"/>
              </a:rPr>
              <a:t>Access Control</a:t>
            </a:r>
            <a:r>
              <a:rPr lang="en-US" sz="1019" b="0" dirty="0">
                <a:solidFill>
                  <a:srgbClr val="5A5F63"/>
                </a:solidFill>
                <a:latin typeface="Aptos"/>
              </a:rPr>
              <a:t>: private mapping prevents direct external enumeration; off-chain reads cost zero gas via view functions.</a:t>
            </a:r>
            <a:r>
              <a:rPr sz="1019" b="0" dirty="0">
                <a:solidFill>
                  <a:srgbClr val="5A5F63"/>
                </a:solidFill>
                <a:latin typeface="Aptos"/>
              </a:rPr>
              <a:t>.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D430F2F-9D09-2D7D-0D3E-FFB03371193D}"/>
              </a:ext>
            </a:extLst>
          </p:cNvPr>
          <p:cNvSpPr/>
          <p:nvPr/>
        </p:nvSpPr>
        <p:spPr>
          <a:xfrm>
            <a:off x="86868" y="4388256"/>
            <a:ext cx="4131945" cy="5334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softEdge rad="38100"/>
          </a:effectLst>
        </p:spPr>
        <p:txBody>
          <a:bodyPr wrap="square">
            <a:noAutofit/>
          </a:bodyPr>
          <a:lstStyle/>
          <a:p>
            <a:pPr algn="just">
              <a:lnSpc>
                <a:spcPct val="115000"/>
              </a:lnSpc>
            </a:pPr>
            <a:r>
              <a:rPr lang="en-US" altLang="zh-CN" sz="1200" b="1" dirty="0"/>
              <a:t>26% cost reduction via loop-based batch registration, making ESPR compliance economically viable for SMEs.</a:t>
            </a:r>
            <a:endParaRPr lang="zh-CN" altLang="en-US" sz="1400" b="1" dirty="0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12331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74000">
              <a:schemeClr val="accent6">
                <a:lumMod val="40000"/>
                <a:lumOff val="60000"/>
              </a:schemeClr>
            </a:gs>
            <a:gs pos="83000">
              <a:schemeClr val="accent6">
                <a:lumMod val="60000"/>
                <a:lumOff val="40000"/>
              </a:schemeClr>
            </a:gs>
            <a:gs pos="100000">
              <a:schemeClr val="accent6">
                <a:lumMod val="50000"/>
              </a:schemeClr>
            </a:gs>
          </a:gsLst>
          <a:lin ang="11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7ACAF7-3AAC-3256-1E9F-243DA6B22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269E0879-7847-C446-72C6-46134DD4041A}"/>
              </a:ext>
            </a:extLst>
          </p:cNvPr>
          <p:cNvSpPr/>
          <p:nvPr/>
        </p:nvSpPr>
        <p:spPr>
          <a:xfrm>
            <a:off x="-26802" y="45"/>
            <a:ext cx="9335910" cy="594360"/>
          </a:xfrm>
          <a:prstGeom prst="rect">
            <a:avLst/>
          </a:prstGeom>
          <a:solidFill>
            <a:schemeClr val="accent3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7EC9D6D-6FFF-3849-66FE-09464B70C91C}"/>
              </a:ext>
            </a:extLst>
          </p:cNvPr>
          <p:cNvSpPr/>
          <p:nvPr/>
        </p:nvSpPr>
        <p:spPr>
          <a:xfrm>
            <a:off x="86868" y="649874"/>
            <a:ext cx="4384548" cy="261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altLang="zh-CN" sz="1400" b="1" dirty="0">
                <a:solidFill>
                  <a:srgbClr val="223A2E"/>
                </a:solidFill>
                <a:latin typeface="Aptos"/>
              </a:rPr>
              <a:t>5.2 Limitations and Possible Improvements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8A9C2A-004D-D895-FC9E-B36F02E8AF9A}"/>
              </a:ext>
            </a:extLst>
          </p:cNvPr>
          <p:cNvSpPr/>
          <p:nvPr/>
        </p:nvSpPr>
        <p:spPr>
          <a:xfrm>
            <a:off x="7189817" y="16260"/>
            <a:ext cx="1314103" cy="5619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8395DDF-D6C7-EA25-050E-89548F2D2BB0}"/>
              </a:ext>
            </a:extLst>
          </p:cNvPr>
          <p:cNvSpPr txBox="1"/>
          <p:nvPr/>
        </p:nvSpPr>
        <p:spPr>
          <a:xfrm>
            <a:off x="1650512" y="129499"/>
            <a:ext cx="1415024" cy="27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1. Background</a:t>
            </a:r>
            <a:endParaRPr kumimoji="1" lang="en-US" altLang="zh-CN" sz="1600" b="1" dirty="0">
              <a:solidFill>
                <a:schemeClr val="bg1"/>
              </a:solidFill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4FDAC70-9C1A-C305-DD56-2D2DCE80ACF0}"/>
              </a:ext>
            </a:extLst>
          </p:cNvPr>
          <p:cNvSpPr txBox="1"/>
          <p:nvPr/>
        </p:nvSpPr>
        <p:spPr>
          <a:xfrm>
            <a:off x="3002321" y="148284"/>
            <a:ext cx="918212" cy="285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2. </a:t>
            </a:r>
            <a:r>
              <a:rPr lang="en-US" sz="1100" b="1" dirty="0">
                <a:solidFill>
                  <a:srgbClr val="5A5F63"/>
                </a:solidFill>
                <a:latin typeface="Aptos"/>
              </a:rPr>
              <a:t>Need</a:t>
            </a:r>
            <a:endParaRPr kumimoji="1" lang="en-US" sz="1100" b="1" dirty="0">
              <a:solidFill>
                <a:srgbClr val="5A5F63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2877776-E9FB-9924-95F8-60EFCDA9E142}"/>
              </a:ext>
            </a:extLst>
          </p:cNvPr>
          <p:cNvSpPr txBox="1"/>
          <p:nvPr/>
        </p:nvSpPr>
        <p:spPr>
          <a:xfrm>
            <a:off x="4332035" y="142559"/>
            <a:ext cx="918212" cy="285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3. </a:t>
            </a:r>
            <a:r>
              <a:rPr lang="en-US" sz="1100" b="1" dirty="0">
                <a:solidFill>
                  <a:srgbClr val="5A5F63"/>
                </a:solidFill>
                <a:latin typeface="Aptos"/>
              </a:rPr>
              <a:t>Design</a:t>
            </a:r>
            <a:endParaRPr kumimoji="1" lang="en-US" sz="1100" b="1" dirty="0">
              <a:solidFill>
                <a:srgbClr val="5A5F63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89AE0B-BECD-82A8-89B1-816BFD679267}"/>
              </a:ext>
            </a:extLst>
          </p:cNvPr>
          <p:cNvSpPr txBox="1"/>
          <p:nvPr/>
        </p:nvSpPr>
        <p:spPr>
          <a:xfrm>
            <a:off x="5646138" y="141341"/>
            <a:ext cx="1706578" cy="277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4. </a:t>
            </a:r>
            <a:r>
              <a:rPr lang="en-US" sz="1100" b="1" dirty="0">
                <a:solidFill>
                  <a:srgbClr val="5A5F63"/>
                </a:solidFill>
                <a:latin typeface="Aptos"/>
              </a:rPr>
              <a:t>Implementation</a:t>
            </a:r>
            <a:endParaRPr kumimoji="1" lang="en-US" sz="1100" b="1" dirty="0">
              <a:solidFill>
                <a:srgbClr val="5A5F63"/>
              </a:solidFill>
              <a:latin typeface="Aptos"/>
              <a:ea typeface="微软雅黑" panose="020B0502040204020203" charset="-122"/>
              <a:cs typeface="Times New Roman" panose="02020503050405090304" charset="0"/>
            </a:endParaRPr>
          </a:p>
        </p:txBody>
      </p:sp>
      <p:pic>
        <p:nvPicPr>
          <p:cNvPr id="24" name="图片 23" descr="2003-logo-red-1000x1000_副本">
            <a:extLst>
              <a:ext uri="{FF2B5EF4-FFF2-40B4-BE49-F238E27FC236}">
                <a16:creationId xmlns:a16="http://schemas.microsoft.com/office/drawing/2014/main" id="{389A8B82-46FC-7D37-0189-C9ADC0846C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833" t="34833" r="11565" b="37454"/>
          <a:stretch>
            <a:fillRect/>
          </a:stretch>
        </p:blipFill>
        <p:spPr>
          <a:xfrm>
            <a:off x="0" y="-69851"/>
            <a:ext cx="1624080" cy="631825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4F4AD910-9E2E-A29A-BDFA-71EAD78A5C53}"/>
              </a:ext>
            </a:extLst>
          </p:cNvPr>
          <p:cNvSpPr txBox="1"/>
          <p:nvPr/>
        </p:nvSpPr>
        <p:spPr>
          <a:xfrm>
            <a:off x="7288658" y="142559"/>
            <a:ext cx="1215262" cy="27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dirty="0">
                <a:solidFill>
                  <a:srgbClr val="5A5F63"/>
                </a:solidFill>
                <a:latin typeface="Aptos"/>
              </a:rPr>
              <a:t>5. Conclusion</a:t>
            </a:r>
            <a:endParaRPr kumimoji="1" lang="en-US" altLang="zh-CN" sz="1600" b="1" dirty="0">
              <a:solidFill>
                <a:schemeClr val="tx1"/>
              </a:solidFill>
              <a:latin typeface="微软雅黑" panose="020B0502040204020203" charset="-122"/>
              <a:ea typeface="微软雅黑" panose="020B0502040204020203" charset="-122"/>
              <a:cs typeface="Times New Roman" panose="02020503050405090304" charset="0"/>
            </a:endParaRPr>
          </a:p>
        </p:txBody>
      </p:sp>
      <p:cxnSp>
        <p:nvCxnSpPr>
          <p:cNvPr id="18" name="直线连接符 11">
            <a:extLst>
              <a:ext uri="{FF2B5EF4-FFF2-40B4-BE49-F238E27FC236}">
                <a16:creationId xmlns:a16="http://schemas.microsoft.com/office/drawing/2014/main" id="{4E6DDD2E-3ACC-A4CE-445D-7979E683A312}"/>
              </a:ext>
            </a:extLst>
          </p:cNvPr>
          <p:cNvCxnSpPr/>
          <p:nvPr/>
        </p:nvCxnSpPr>
        <p:spPr>
          <a:xfrm>
            <a:off x="144847" y="925553"/>
            <a:ext cx="5105400" cy="0"/>
          </a:xfrm>
          <a:prstGeom prst="line">
            <a:avLst/>
          </a:prstGeom>
          <a:ln w="25400">
            <a:solidFill>
              <a:srgbClr val="77C4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2">
            <a:extLst>
              <a:ext uri="{FF2B5EF4-FFF2-40B4-BE49-F238E27FC236}">
                <a16:creationId xmlns:a16="http://schemas.microsoft.com/office/drawing/2014/main" id="{8C58E3D5-743E-3A78-2AAC-3D4DB15EEE3F}"/>
              </a:ext>
            </a:extLst>
          </p:cNvPr>
          <p:cNvSpPr/>
          <p:nvPr/>
        </p:nvSpPr>
        <p:spPr>
          <a:xfrm>
            <a:off x="269044" y="1103976"/>
            <a:ext cx="2323999" cy="3960871"/>
          </a:xfrm>
          <a:prstGeom prst="roundRect">
            <a:avLst>
              <a:gd name="adj" fmla="val 1760"/>
            </a:avLst>
          </a:prstGeom>
          <a:blipFill dpi="0" rotWithShape="1">
            <a:blip r:embed="rId4">
              <a:alphaModFix amt="20000"/>
            </a:blip>
            <a:srcRect/>
            <a:tile tx="0" ty="0" sx="100000" sy="100000" flip="none" algn="tl"/>
          </a:blipFill>
          <a:ln>
            <a:solidFill>
              <a:schemeClr val="accent6">
                <a:lumMod val="60000"/>
                <a:lumOff val="40000"/>
                <a:alpha val="87000"/>
              </a:schemeClr>
            </a:solidFill>
          </a:ln>
          <a:effectLst>
            <a:outerShdw blurRad="393700" sx="102000" sy="102000" algn="ctr" rotWithShape="0">
              <a:srgbClr val="9F0100">
                <a:alpha val="10000"/>
              </a:srgbClr>
            </a:outerShdw>
          </a:effectLst>
        </p:spPr>
        <p:style>
          <a:lnRef idx="2">
            <a:srgbClr val="9F0100">
              <a:shade val="15000"/>
            </a:srgbClr>
          </a:lnRef>
          <a:fillRef idx="1">
            <a:srgbClr val="9F0100"/>
          </a:fillRef>
          <a:effectRef idx="0">
            <a:srgbClr val="9F0100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ysClr val="window" lastClr="FFFFFF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24DD298-2E8B-E176-C427-F3F89A6B9F69}"/>
              </a:ext>
            </a:extLst>
          </p:cNvPr>
          <p:cNvSpPr/>
          <p:nvPr/>
        </p:nvSpPr>
        <p:spPr>
          <a:xfrm>
            <a:off x="394404" y="1200394"/>
            <a:ext cx="2101270" cy="488946"/>
          </a:xfrm>
          <a:prstGeom prst="rect">
            <a:avLst/>
          </a:prstGeom>
          <a:gradFill flip="none" rotWithShape="1">
            <a:gsLst>
              <a:gs pos="0">
                <a:sysClr val="window" lastClr="FFFFFF">
                  <a:lumMod val="95000"/>
                </a:sysClr>
              </a:gs>
              <a:gs pos="100000">
                <a:sysClr val="window" lastClr="FFFFFF">
                  <a:lumMod val="95000"/>
                  <a:alpha val="0"/>
                </a:sysClr>
              </a:gs>
            </a:gsLst>
            <a:lin ang="0" scaled="1"/>
            <a:tileRect/>
          </a:gradFill>
          <a:ln>
            <a:noFill/>
          </a:ln>
        </p:spPr>
        <p:style>
          <a:lnRef idx="2">
            <a:srgbClr val="9F0100">
              <a:shade val="15000"/>
            </a:srgbClr>
          </a:lnRef>
          <a:fillRef idx="1">
            <a:srgbClr val="9F0100"/>
          </a:fillRef>
          <a:effectRef idx="0">
            <a:srgbClr val="9F0100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BCE538B-E808-EC0C-65F8-1DE1E71CC498}"/>
              </a:ext>
            </a:extLst>
          </p:cNvPr>
          <p:cNvSpPr txBox="1"/>
          <p:nvPr/>
        </p:nvSpPr>
        <p:spPr>
          <a:xfrm>
            <a:off x="306910" y="1175999"/>
            <a:ext cx="2177536" cy="568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2040204020203" charset="-122"/>
                <a:ea typeface="微软雅黑" panose="020B0502040204020203" charset="-122"/>
                <a:cs typeface="+mn-ea"/>
              </a:rPr>
              <a:t>Mainnet Congestion &amp; Cost: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A7C471-5808-0562-1AAF-EFCBDC69688E}"/>
              </a:ext>
            </a:extLst>
          </p:cNvPr>
          <p:cNvSpPr txBox="1"/>
          <p:nvPr/>
        </p:nvSpPr>
        <p:spPr>
          <a:xfrm>
            <a:off x="330413" y="1767064"/>
            <a:ext cx="2092036" cy="2634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600"/>
              </a:spcAft>
              <a:defRPr/>
            </a:pPr>
            <a:r>
              <a:rPr lang="en-US" altLang="zh-CN" sz="1400" dirty="0">
                <a:latin typeface="Aptos" panose="020B0004020202020204" pitchFamily="34" charset="0"/>
              </a:rPr>
              <a:t>Loop-based batch operations may become prohibitively expensive on the Ethereum </a:t>
            </a:r>
            <a:r>
              <a:rPr lang="en-US" altLang="zh-CN" sz="1400" dirty="0" err="1">
                <a:latin typeface="Aptos" panose="020B0004020202020204" pitchFamily="34" charset="0"/>
              </a:rPr>
              <a:t>mainnet</a:t>
            </a:r>
            <a:r>
              <a:rPr lang="en-US" altLang="zh-CN" sz="1400" dirty="0">
                <a:latin typeface="Aptos" panose="020B0004020202020204" pitchFamily="34" charset="0"/>
              </a:rPr>
              <a:t>.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 panose="020B0004020202020204" pitchFamily="34" charset="0"/>
              <a:ea typeface="微软雅黑" panose="020B0502040204020203" charset="-122"/>
              <a:cs typeface="+mn-ea"/>
            </a:endParaRPr>
          </a:p>
          <a:p>
            <a:pPr lvl="0">
              <a:lnSpc>
                <a:spcPct val="115000"/>
              </a:lnSpc>
              <a:spcAft>
                <a:spcPts val="600"/>
              </a:spcAft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0B0004020202020204" pitchFamily="34" charset="0"/>
                <a:ea typeface="微软雅黑" panose="020B0502040204020203" charset="-122"/>
                <a:cs typeface="+mn-ea"/>
              </a:rPr>
              <a:t>Improvement: 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0B0004020202020204" pitchFamily="34" charset="0"/>
                <a:ea typeface="微软雅黑" panose="020B0502040204020203" charset="-122"/>
                <a:cs typeface="+mn-ea"/>
              </a:rPr>
              <a:t>Migrate to Layer-2 networks (e.g., Polygon, </a:t>
            </a:r>
            <a:r>
              <a:rPr kumimoji="0" lang="en-US" altLang="zh-CN" sz="14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0B0004020202020204" pitchFamily="34" charset="0"/>
                <a:ea typeface="微软雅黑" panose="020B0502040204020203" charset="-122"/>
                <a:cs typeface="+mn-ea"/>
              </a:rPr>
              <a:t>Arbitrum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0B0004020202020204" pitchFamily="34" charset="0"/>
                <a:ea typeface="微软雅黑" panose="020B0502040204020203" charset="-122"/>
                <a:cs typeface="+mn-ea"/>
              </a:rPr>
              <a:t>) for EVM compatibility with near-zero fees.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D717EDB-D47A-D751-4443-6FAE8664D59F}"/>
              </a:ext>
            </a:extLst>
          </p:cNvPr>
          <p:cNvSpPr/>
          <p:nvPr/>
        </p:nvSpPr>
        <p:spPr>
          <a:xfrm>
            <a:off x="3459797" y="1119716"/>
            <a:ext cx="2323999" cy="3970374"/>
          </a:xfrm>
          <a:prstGeom prst="roundRect">
            <a:avLst>
              <a:gd name="adj" fmla="val 1760"/>
            </a:avLst>
          </a:prstGeom>
          <a:blipFill dpi="0" rotWithShape="1">
            <a:blip r:embed="rId4">
              <a:alphaModFix amt="20000"/>
            </a:blip>
            <a:srcRect/>
            <a:tile tx="0" ty="0" sx="100000" sy="100000" flip="none" algn="tl"/>
          </a:blipFill>
          <a:ln>
            <a:solidFill>
              <a:schemeClr val="accent6">
                <a:lumMod val="60000"/>
                <a:lumOff val="40000"/>
                <a:alpha val="87000"/>
              </a:schemeClr>
            </a:solidFill>
          </a:ln>
          <a:effectLst>
            <a:outerShdw blurRad="393700" sx="102000" sy="102000" algn="ctr" rotWithShape="0">
              <a:srgbClr val="9F0100">
                <a:alpha val="10000"/>
              </a:srgbClr>
            </a:outerShdw>
          </a:effectLst>
        </p:spPr>
        <p:style>
          <a:lnRef idx="2">
            <a:srgbClr val="9F0100">
              <a:shade val="15000"/>
            </a:srgbClr>
          </a:lnRef>
          <a:fillRef idx="1">
            <a:srgbClr val="9F0100"/>
          </a:fillRef>
          <a:effectRef idx="0">
            <a:srgbClr val="9F0100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latin typeface="微软雅黑" panose="020B0502040204020203" charset="-122"/>
              <a:ea typeface="微软雅黑" panose="020B0502040204020203" charset="-122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78A9F7E-846F-30E6-46A3-133BF5D82146}"/>
              </a:ext>
            </a:extLst>
          </p:cNvPr>
          <p:cNvGrpSpPr/>
          <p:nvPr/>
        </p:nvGrpSpPr>
        <p:grpSpPr>
          <a:xfrm>
            <a:off x="3544522" y="1136164"/>
            <a:ext cx="2170272" cy="3049053"/>
            <a:chOff x="4309501" y="1854147"/>
            <a:chExt cx="3462898" cy="3764093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891B1DEB-00BF-588D-558F-BAB7C8946237}"/>
                </a:ext>
              </a:extLst>
            </p:cNvPr>
            <p:cNvSpPr/>
            <p:nvPr/>
          </p:nvSpPr>
          <p:spPr>
            <a:xfrm>
              <a:off x="4419601" y="1925234"/>
              <a:ext cx="3352798" cy="603610"/>
            </a:xfrm>
            <a:prstGeom prst="rect">
              <a:avLst/>
            </a:prstGeom>
            <a:gradFill flip="none" rotWithShape="1">
              <a:gsLst>
                <a:gs pos="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95000"/>
                    <a:alpha val="0"/>
                  </a:sys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rgbClr val="9F0100">
                <a:shade val="15000"/>
              </a:srgbClr>
            </a:lnRef>
            <a:fillRef idx="1">
              <a:srgbClr val="9F0100"/>
            </a:fillRef>
            <a:effectRef idx="0">
              <a:srgbClr val="9F0100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微软雅黑" panose="020B0502040204020203" charset="-122"/>
                <a:ea typeface="微软雅黑" panose="020B0502040204020203" charset="-122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6C3A8E4C-E76B-B598-550D-EED9055F01CF}"/>
                </a:ext>
              </a:extLst>
            </p:cNvPr>
            <p:cNvSpPr txBox="1"/>
            <p:nvPr/>
          </p:nvSpPr>
          <p:spPr>
            <a:xfrm>
              <a:off x="4309501" y="1854147"/>
              <a:ext cx="3394079" cy="7019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defRPr/>
              </a:pPr>
              <a:r>
                <a:rPr lang="en-US" altLang="zh-CN" sz="1400" b="1" dirty="0">
                  <a:latin typeface="微软雅黑" panose="020B0502040204020203" charset="-122"/>
                  <a:ea typeface="微软雅黑" panose="020B0502040204020203" charset="-122"/>
                  <a:cs typeface="+mn-ea"/>
                </a:rPr>
                <a:t>The "Oracle Problem" &amp; Identity: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E66B24E-604F-A779-0705-DD217923028E}"/>
                </a:ext>
              </a:extLst>
            </p:cNvPr>
            <p:cNvSpPr txBox="1"/>
            <p:nvPr/>
          </p:nvSpPr>
          <p:spPr>
            <a:xfrm>
              <a:off x="4391593" y="2671539"/>
              <a:ext cx="3338065" cy="29467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15000"/>
                </a:lnSpc>
                <a:spcAft>
                  <a:spcPts val="600"/>
                </a:spcAft>
                <a:defRPr/>
              </a:pPr>
              <a:r>
                <a:rPr lang="en-US" altLang="zh-CN" sz="1400" dirty="0">
                  <a:latin typeface="Aptos" panose="020B0004020202020204" pitchFamily="34" charset="0"/>
                </a:rPr>
                <a:t>The open system currently lacks formal manufacturer identity verification.</a:t>
              </a:r>
              <a:endParaRPr lang="en-US" altLang="zh-CN" dirty="0">
                <a:latin typeface="Aptos" panose="020B0004020202020204" pitchFamily="34" charset="0"/>
              </a:endParaRPr>
            </a:p>
            <a:p>
              <a:pPr lvl="0">
                <a:lnSpc>
                  <a:spcPct val="115000"/>
                </a:lnSpc>
                <a:spcAft>
                  <a:spcPts val="600"/>
                </a:spcAft>
                <a:defRPr/>
              </a:pPr>
              <a:r>
                <a:rPr lang="en-US" altLang="zh-CN" sz="1400" b="1" dirty="0">
                  <a:latin typeface="Aptos" panose="020B0004020202020204" pitchFamily="34" charset="0"/>
                </a:rPr>
                <a:t>Improvement: </a:t>
              </a:r>
              <a:r>
                <a:rPr lang="en-US" altLang="zh-CN" sz="1400" dirty="0">
                  <a:latin typeface="Aptos" panose="020B0004020202020204" pitchFamily="34" charset="0"/>
                </a:rPr>
                <a:t>Integrate W3C </a:t>
              </a:r>
              <a:r>
                <a:rPr lang="en-US" altLang="zh-CN" sz="1400" dirty="0" err="1">
                  <a:latin typeface="Aptos" panose="020B0004020202020204" pitchFamily="34" charset="0"/>
                </a:rPr>
                <a:t>Decentralised</a:t>
              </a:r>
              <a:r>
                <a:rPr lang="en-US" altLang="zh-CN" sz="1400" dirty="0">
                  <a:latin typeface="Aptos" panose="020B0004020202020204" pitchFamily="34" charset="0"/>
                </a:rPr>
                <a:t> Identifiers (DIDs) and Verifiable Credentials to verify legal entities. </a:t>
              </a:r>
            </a:p>
          </p:txBody>
        </p:sp>
      </p:grp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876FBA24-A381-E3BD-BEEA-2E61E4ADF5DE}"/>
              </a:ext>
            </a:extLst>
          </p:cNvPr>
          <p:cNvSpPr/>
          <p:nvPr/>
        </p:nvSpPr>
        <p:spPr>
          <a:xfrm>
            <a:off x="6554056" y="1129217"/>
            <a:ext cx="2323999" cy="3960870"/>
          </a:xfrm>
          <a:prstGeom prst="roundRect">
            <a:avLst>
              <a:gd name="adj" fmla="val 1760"/>
            </a:avLst>
          </a:prstGeom>
          <a:blipFill dpi="0" rotWithShape="1">
            <a:blip r:embed="rId4">
              <a:alphaModFix amt="20000"/>
            </a:blip>
            <a:srcRect/>
            <a:tile tx="0" ty="0" sx="100000" sy="100000" flip="none" algn="tl"/>
          </a:blipFill>
          <a:ln>
            <a:solidFill>
              <a:schemeClr val="accent6">
                <a:lumMod val="60000"/>
                <a:lumOff val="40000"/>
                <a:alpha val="87000"/>
              </a:schemeClr>
            </a:solidFill>
          </a:ln>
          <a:effectLst>
            <a:outerShdw blurRad="393700" sx="102000" sy="102000" algn="ctr" rotWithShape="0">
              <a:srgbClr val="9F0100">
                <a:alpha val="10000"/>
              </a:srgbClr>
            </a:outerShdw>
          </a:effectLst>
        </p:spPr>
        <p:style>
          <a:lnRef idx="2">
            <a:srgbClr val="9F0100">
              <a:shade val="15000"/>
            </a:srgbClr>
          </a:lnRef>
          <a:fillRef idx="1">
            <a:srgbClr val="9F0100"/>
          </a:fillRef>
          <a:effectRef idx="0">
            <a:srgbClr val="9F0100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latin typeface="微软雅黑" panose="020B0502040204020203" charset="-122"/>
              <a:ea typeface="微软雅黑" panose="020B0502040204020203" charset="-122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1CC0DC44-7A84-1F01-2354-988541F65259}"/>
              </a:ext>
            </a:extLst>
          </p:cNvPr>
          <p:cNvGrpSpPr/>
          <p:nvPr/>
        </p:nvGrpSpPr>
        <p:grpSpPr>
          <a:xfrm>
            <a:off x="6634582" y="1136164"/>
            <a:ext cx="2209284" cy="3823111"/>
            <a:chOff x="4405037" y="1982041"/>
            <a:chExt cx="3525147" cy="4719676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E1C425BC-6B81-3117-113A-AEEEA6A2E052}"/>
                </a:ext>
              </a:extLst>
            </p:cNvPr>
            <p:cNvSpPr/>
            <p:nvPr/>
          </p:nvSpPr>
          <p:spPr>
            <a:xfrm>
              <a:off x="4426967" y="2031219"/>
              <a:ext cx="3352799" cy="603610"/>
            </a:xfrm>
            <a:prstGeom prst="rect">
              <a:avLst/>
            </a:prstGeom>
            <a:gradFill flip="none" rotWithShape="1">
              <a:gsLst>
                <a:gs pos="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95000"/>
                    <a:alpha val="0"/>
                  </a:sys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rgbClr val="9F0100">
                <a:shade val="15000"/>
              </a:srgbClr>
            </a:lnRef>
            <a:fillRef idx="1">
              <a:srgbClr val="9F0100"/>
            </a:fillRef>
            <a:effectRef idx="0">
              <a:srgbClr val="9F0100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微软雅黑" panose="020B0502040204020203" charset="-122"/>
                <a:ea typeface="微软雅黑" panose="020B0502040204020203" charset="-122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569E26FC-452D-68B4-83FD-05E5294498B6}"/>
                </a:ext>
              </a:extLst>
            </p:cNvPr>
            <p:cNvSpPr txBox="1"/>
            <p:nvPr/>
          </p:nvSpPr>
          <p:spPr>
            <a:xfrm>
              <a:off x="4405037" y="1982041"/>
              <a:ext cx="3451208" cy="7019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defRPr/>
              </a:pPr>
              <a:r>
                <a:rPr lang="en-US" altLang="zh-CN" sz="1400" b="1" dirty="0">
                  <a:latin typeface="微软雅黑" panose="020B0502040204020203" charset="-122"/>
                  <a:ea typeface="微软雅黑" panose="020B0502040204020203" charset="-122"/>
                  <a:cs typeface="+mn-ea"/>
                </a:rPr>
                <a:t>Strict Immutability Constraints: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EBEF348A-53C0-B867-04BA-024A659D11E8}"/>
                </a:ext>
              </a:extLst>
            </p:cNvPr>
            <p:cNvSpPr txBox="1"/>
            <p:nvPr/>
          </p:nvSpPr>
          <p:spPr>
            <a:xfrm>
              <a:off x="4592117" y="2837428"/>
              <a:ext cx="3338067" cy="38642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lnSpc>
                  <a:spcPct val="115000"/>
                </a:lnSpc>
                <a:spcAft>
                  <a:spcPts val="600"/>
                </a:spcAft>
                <a:defRPr/>
              </a:pPr>
              <a:r>
                <a:rPr lang="en-US" altLang="zh-CN" sz="1400">
                  <a:latin typeface="Aptos" panose="020B0004020202020204" pitchFamily="34" charset="0"/>
                </a:rPr>
                <a:t>Honest data entry mistakes currently cannot be amended or withdrawn.</a:t>
              </a:r>
            </a:p>
            <a:p>
              <a:pPr lvl="0">
                <a:lnSpc>
                  <a:spcPct val="115000"/>
                </a:lnSpc>
                <a:spcAft>
                  <a:spcPts val="600"/>
                </a:spcAft>
                <a:defRPr/>
              </a:pPr>
              <a:r>
                <a:rPr lang="en-US" altLang="zh-CN" sz="1400" b="1">
                  <a:latin typeface="Aptos" panose="020B0004020202020204" pitchFamily="34" charset="0"/>
                </a:rPr>
                <a:t>Improvement: </a:t>
              </a:r>
              <a:r>
                <a:rPr lang="en-US" altLang="zh-CN" sz="1400">
                  <a:latin typeface="Aptos" panose="020B0004020202020204" pitchFamily="34" charset="0"/>
                </a:rPr>
                <a:t>Implement an Upgradeable Proxy Pattern to allow controlled regulatory amendments without compromising historical audit trails.</a:t>
              </a:r>
              <a:endParaRPr lang="en-US" altLang="zh-CN" sz="1400" dirty="0">
                <a:latin typeface="Aptos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88094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accent6"/>
            </a:gs>
            <a:gs pos="100000">
              <a:schemeClr val="accent6">
                <a:lumMod val="75000"/>
              </a:schemeClr>
            </a:gs>
          </a:gsLst>
          <a:lin ang="27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DB54DB-FE55-7877-E3B3-4B7EE7CBE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D6B850B6-7BEB-8DE4-3987-AEC19A4979D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000"/>
                    </a14:imgEffect>
                    <a14:imgEffect>
                      <a14:saturation sat="3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75" y="0"/>
            <a:ext cx="9140825" cy="5126037"/>
          </a:xfrm>
          <a:prstGeom prst="rect">
            <a:avLst/>
          </a:prstGeom>
        </p:spPr>
      </p:pic>
      <p:sp>
        <p:nvSpPr>
          <p:cNvPr id="7" name="Text 5">
            <a:extLst>
              <a:ext uri="{FF2B5EF4-FFF2-40B4-BE49-F238E27FC236}">
                <a16:creationId xmlns:a16="http://schemas.microsoft.com/office/drawing/2014/main" id="{58219C66-59C2-98F2-C8E3-5B69C6F3707E}"/>
              </a:ext>
            </a:extLst>
          </p:cNvPr>
          <p:cNvSpPr/>
          <p:nvPr/>
        </p:nvSpPr>
        <p:spPr>
          <a:xfrm>
            <a:off x="457200" y="21945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</p:txBody>
      </p:sp>
      <p:pic>
        <p:nvPicPr>
          <p:cNvPr id="11" name="图片 10" descr="2003-logo-red-1000x1000_副本">
            <a:extLst>
              <a:ext uri="{FF2B5EF4-FFF2-40B4-BE49-F238E27FC236}">
                <a16:creationId xmlns:a16="http://schemas.microsoft.com/office/drawing/2014/main" id="{C333A56D-DA93-ECBE-DF4B-1C85F958745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833" t="34833" r="11565" b="37454"/>
          <a:stretch>
            <a:fillRect/>
          </a:stretch>
        </p:blipFill>
        <p:spPr>
          <a:xfrm>
            <a:off x="3175" y="4155122"/>
            <a:ext cx="2682875" cy="97091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24931E5-BB7A-88EE-838C-F19921076843}"/>
              </a:ext>
            </a:extLst>
          </p:cNvPr>
          <p:cNvSpPr txBox="1"/>
          <p:nvPr/>
        </p:nvSpPr>
        <p:spPr>
          <a:xfrm>
            <a:off x="698500" y="1224817"/>
            <a:ext cx="5621867" cy="190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dirty="0">
                <a:solidFill>
                  <a:srgbClr val="223A2E"/>
                </a:solidFill>
                <a:latin typeface="Aptos"/>
              </a:rPr>
              <a:t>EcoPassEU</a:t>
            </a:r>
            <a:endParaRPr lang="en-US" altLang="zh-CN" sz="6000" b="1" kern="100" dirty="0">
              <a:solidFill>
                <a:schemeClr val="bg1"/>
              </a:solidFill>
              <a:latin typeface="Times New Roman" panose="02020503050405090304" charset="0"/>
              <a:ea typeface="汉仪雅酷黑 65W" panose="020B0604020202020204" charset="-122"/>
              <a:cs typeface="Times New Roman" panose="02020503050405090304" charset="0"/>
              <a:sym typeface="汉仪旗黑-50S" panose="00020600040101010101" charset="-122"/>
            </a:endParaRPr>
          </a:p>
          <a:p>
            <a:pPr algn="l">
              <a:lnSpc>
                <a:spcPct val="105000"/>
              </a:lnSpc>
            </a:pPr>
            <a:r>
              <a:rPr sz="1900" b="1" dirty="0">
                <a:solidFill>
                  <a:srgbClr val="223A2E"/>
                </a:solidFill>
                <a:latin typeface="Aptos"/>
              </a:rPr>
              <a:t>A Hybrid Blockchain Architecture</a:t>
            </a:r>
          </a:p>
          <a:p>
            <a:pPr algn="l">
              <a:lnSpc>
                <a:spcPct val="105000"/>
              </a:lnSpc>
            </a:pPr>
            <a:r>
              <a:rPr sz="1900" b="1" dirty="0">
                <a:solidFill>
                  <a:srgbClr val="223A2E"/>
                </a:solidFill>
                <a:latin typeface="Aptos"/>
              </a:rPr>
              <a:t>for ESPR-Compliant Digital Product Passports</a:t>
            </a:r>
            <a:endParaRPr lang="en-US" sz="1900" b="1" dirty="0">
              <a:solidFill>
                <a:srgbClr val="223A2E"/>
              </a:solidFill>
              <a:latin typeface="Aptos"/>
            </a:endParaRPr>
          </a:p>
          <a:p>
            <a:pPr algn="l">
              <a:lnSpc>
                <a:spcPct val="105000"/>
              </a:lnSpc>
            </a:pPr>
            <a:endParaRPr lang="en-US" sz="1900" b="1" dirty="0">
              <a:solidFill>
                <a:srgbClr val="223A2E"/>
              </a:solidFill>
              <a:latin typeface="Aptos"/>
            </a:endParaRPr>
          </a:p>
          <a:p>
            <a:pPr algn="l">
              <a:lnSpc>
                <a:spcPct val="105000"/>
              </a:lnSpc>
            </a:pPr>
            <a:r>
              <a:rPr lang="en-US" sz="2800" b="1" dirty="0">
                <a:latin typeface="Aptos"/>
              </a:rPr>
              <a:t>PART 2 Demo</a:t>
            </a:r>
            <a:endParaRPr sz="2800" b="1" dirty="0">
              <a:latin typeface="Apto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D234132-128D-597E-C663-F8586FA61A16}"/>
              </a:ext>
            </a:extLst>
          </p:cNvPr>
          <p:cNvSpPr txBox="1"/>
          <p:nvPr/>
        </p:nvSpPr>
        <p:spPr>
          <a:xfrm>
            <a:off x="698500" y="3404133"/>
            <a:ext cx="6508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Live Demo:</a:t>
            </a:r>
            <a:r>
              <a:rPr lang="en-US" altLang="zh-CN" dirty="0"/>
              <a:t> </a:t>
            </a:r>
            <a:r>
              <a:rPr lang="en-GB" altLang="zh-CN" dirty="0" err="1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EcoPassEU</a:t>
            </a:r>
            <a:endParaRPr lang="zh-CN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27466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accent6"/>
            </a:gs>
            <a:gs pos="100000">
              <a:schemeClr val="accent6">
                <a:lumMod val="75000"/>
              </a:schemeClr>
            </a:gs>
          </a:gsLst>
          <a:lin ang="27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8C1AD3-813D-636B-8D52-3AAF48A18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3FE3A01A-B283-713D-75E8-9493A5B39D2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000"/>
                    </a14:imgEffect>
                    <a14:imgEffect>
                      <a14:saturation sat="3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0857"/>
            <a:ext cx="9140825" cy="5126037"/>
          </a:xfrm>
          <a:prstGeom prst="rect">
            <a:avLst/>
          </a:prstGeom>
        </p:spPr>
      </p:pic>
      <p:sp>
        <p:nvSpPr>
          <p:cNvPr id="7" name="Text 5">
            <a:extLst>
              <a:ext uri="{FF2B5EF4-FFF2-40B4-BE49-F238E27FC236}">
                <a16:creationId xmlns:a16="http://schemas.microsoft.com/office/drawing/2014/main" id="{8A8F4FD2-958C-B8F5-DBFF-39D3D52CE71C}"/>
              </a:ext>
            </a:extLst>
          </p:cNvPr>
          <p:cNvSpPr/>
          <p:nvPr/>
        </p:nvSpPr>
        <p:spPr>
          <a:xfrm>
            <a:off x="457200" y="21945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</p:txBody>
      </p:sp>
      <p:pic>
        <p:nvPicPr>
          <p:cNvPr id="11" name="图片 10" descr="2003-logo-red-1000x1000_副本">
            <a:extLst>
              <a:ext uri="{FF2B5EF4-FFF2-40B4-BE49-F238E27FC236}">
                <a16:creationId xmlns:a16="http://schemas.microsoft.com/office/drawing/2014/main" id="{C400F436-D239-3391-31BB-84DB0DE47E6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833" t="34833" r="11565" b="37454"/>
          <a:stretch>
            <a:fillRect/>
          </a:stretch>
        </p:blipFill>
        <p:spPr>
          <a:xfrm>
            <a:off x="3175" y="4155122"/>
            <a:ext cx="2682875" cy="97091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DD1037A-0087-C3E7-4107-9E75C87D34EB}"/>
              </a:ext>
            </a:extLst>
          </p:cNvPr>
          <p:cNvSpPr txBox="1"/>
          <p:nvPr/>
        </p:nvSpPr>
        <p:spPr>
          <a:xfrm>
            <a:off x="6935888" y="4753761"/>
            <a:ext cx="1987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Dapp:</a:t>
            </a:r>
            <a:r>
              <a:rPr lang="en-US" altLang="zh-CN" dirty="0"/>
              <a:t> </a:t>
            </a:r>
            <a:r>
              <a:rPr lang="en-GB" altLang="zh-CN" dirty="0" err="1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EcoPassEU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039650-8F74-51B4-49CD-8EBE9F699E3C}"/>
              </a:ext>
            </a:extLst>
          </p:cNvPr>
          <p:cNvSpPr txBox="1"/>
          <p:nvPr/>
        </p:nvSpPr>
        <p:spPr>
          <a:xfrm>
            <a:off x="-575378" y="1667335"/>
            <a:ext cx="10092267" cy="1157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6600" b="1" dirty="0">
                <a:solidFill>
                  <a:srgbClr val="223A2E"/>
                </a:solidFill>
                <a:latin typeface="Aptos"/>
              </a:rPr>
              <a:t>Thank You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29D00F7-88F8-705E-AC3D-A28688250C2E}"/>
              </a:ext>
            </a:extLst>
          </p:cNvPr>
          <p:cNvSpPr/>
          <p:nvPr/>
        </p:nvSpPr>
        <p:spPr>
          <a:xfrm>
            <a:off x="965835" y="3515979"/>
            <a:ext cx="7543800" cy="338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dirty="0">
                <a:latin typeface="Aptos"/>
              </a:rPr>
              <a:t>Fuyu Cao </a:t>
            </a:r>
            <a:r>
              <a:rPr lang="en-US" sz="1400" b="1" dirty="0">
                <a:latin typeface="Aptos"/>
              </a:rPr>
              <a:t>，</a:t>
            </a:r>
            <a:r>
              <a:rPr sz="1400" b="1" dirty="0" err="1">
                <a:latin typeface="Aptos"/>
              </a:rPr>
              <a:t>Luxiao</a:t>
            </a:r>
            <a:r>
              <a:rPr sz="1400" b="1" dirty="0">
                <a:latin typeface="Aptos"/>
              </a:rPr>
              <a:t> Cao</a:t>
            </a:r>
            <a:r>
              <a:rPr lang="en-US" sz="1400" b="1" dirty="0">
                <a:latin typeface="Aptos"/>
              </a:rPr>
              <a:t>，</a:t>
            </a:r>
            <a:r>
              <a:rPr sz="1400" b="1" dirty="0">
                <a:latin typeface="Aptos"/>
              </a:rPr>
              <a:t> Detai </a:t>
            </a:r>
            <a:r>
              <a:rPr sz="1400" b="1" dirty="0" err="1">
                <a:latin typeface="Aptos"/>
              </a:rPr>
              <a:t>Dong</a:t>
            </a:r>
            <a:r>
              <a:rPr lang="en-US" sz="1400" b="1" dirty="0" err="1">
                <a:latin typeface="Aptos"/>
              </a:rPr>
              <a:t>，</a:t>
            </a:r>
            <a:r>
              <a:rPr sz="1400" b="1" dirty="0" err="1">
                <a:latin typeface="Aptos"/>
              </a:rPr>
              <a:t>Akshansh</a:t>
            </a:r>
            <a:r>
              <a:rPr sz="1400" b="1" dirty="0">
                <a:latin typeface="Aptos"/>
              </a:rPr>
              <a:t> </a:t>
            </a:r>
            <a:r>
              <a:rPr sz="1400" b="1" dirty="0" err="1">
                <a:latin typeface="Aptos"/>
              </a:rPr>
              <a:t>Rajora</a:t>
            </a:r>
            <a:r>
              <a:rPr lang="en-US" sz="1400" b="1" dirty="0" err="1">
                <a:latin typeface="Aptos"/>
              </a:rPr>
              <a:t>，</a:t>
            </a:r>
            <a:r>
              <a:rPr sz="1400" b="1" dirty="0" err="1">
                <a:latin typeface="Aptos"/>
              </a:rPr>
              <a:t>Tianwei</a:t>
            </a:r>
            <a:r>
              <a:rPr sz="1400" b="1" dirty="0">
                <a:latin typeface="Aptos"/>
              </a:rPr>
              <a:t> Yu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B5211F10-998D-A166-5E3C-3B47DF847D0F}"/>
              </a:ext>
            </a:extLst>
          </p:cNvPr>
          <p:cNvGrpSpPr/>
          <p:nvPr/>
        </p:nvGrpSpPr>
        <p:grpSpPr>
          <a:xfrm>
            <a:off x="3280431" y="4150556"/>
            <a:ext cx="2380564" cy="677596"/>
            <a:chOff x="4745164" y="5489358"/>
            <a:chExt cx="2380564" cy="677596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797F29E-083C-357B-4335-F67D004CD105}"/>
                </a:ext>
              </a:extLst>
            </p:cNvPr>
            <p:cNvSpPr txBox="1"/>
            <p:nvPr/>
          </p:nvSpPr>
          <p:spPr>
            <a:xfrm>
              <a:off x="4745251" y="5489358"/>
              <a:ext cx="2380477" cy="309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300" b="1" i="1" dirty="0">
                  <a:latin typeface="Aptos"/>
                </a:rPr>
                <a:t>FTGP Group 11</a:t>
              </a:r>
              <a:endParaRPr lang="en-US" altLang="zh-CN" b="1" i="1" dirty="0"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974AF3E-8283-C587-5DAB-5B60180E2F6E}"/>
                </a:ext>
              </a:extLst>
            </p:cNvPr>
            <p:cNvSpPr txBox="1"/>
            <p:nvPr/>
          </p:nvSpPr>
          <p:spPr>
            <a:xfrm>
              <a:off x="4745164" y="5857317"/>
              <a:ext cx="2329764" cy="309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altLang="zh-CN" sz="1300" b="1" i="1" dirty="0">
                  <a:latin typeface="Aptos"/>
                  <a:ea typeface="汉仪旗黑-55简" panose="00020600040101010101" pitchFamily="18" charset="-122"/>
                  <a:cs typeface="+mn-ea"/>
                  <a:sym typeface="汉仪旗黑-55简" panose="00020600040101010101" pitchFamily="18" charset="-122"/>
                </a:rPr>
                <a:t>6/5/2026</a:t>
              </a:r>
              <a:endParaRPr lang="en-US" altLang="zh-CN" b="1" i="1" dirty="0"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54052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22763779527565,&quot;left&quot;:54.75,&quot;top&quot;:139.12669291338582,&quot;width&quot;:850.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22763779527565,&quot;left&quot;:54.75,&quot;top&quot;:139.12669291338582,&quot;width&quot;:850.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22763779527565,&quot;left&quot;:54.75,&quot;top&quot;:139.12669291338582,&quot;width&quot;:850.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22763779527565,&quot;left&quot;:54.75,&quot;top&quot;:139.12669291338582,&quot;width&quot;:850.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22763779527565,&quot;left&quot;:54.75,&quot;top&quot;:139.12669291338582,&quot;width&quot;:850.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22763779527565,&quot;left&quot;:54.75,&quot;top&quot;:139.12669291338582,&quot;width&quot;:850.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22763779527565,&quot;left&quot;:54.75,&quot;top&quot;:139.12669291338582,&quot;width&quot;:850.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22763779527565,&quot;left&quot;:54.75,&quot;top&quot;:139.12669291338582,&quot;width&quot;:850.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22763779527565,&quot;left&quot;:54.75,&quot;top&quot;:139.12669291338582,&quot;width&quot;:850.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22763779527565,&quot;left&quot;:54.75,&quot;top&quot;:139.12669291338582,&quot;width&quot;:850.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22763779527565,&quot;left&quot;:54.75,&quot;top&quot;:139.12669291338582,&quot;width&quot;:850.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22763779527565,&quot;left&quot;:54.75,&quot;top&quot;:139.12669291338582,&quot;width&quot;:850.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2285">
    <a:dk1>
      <a:srgbClr val="000000"/>
    </a:dk1>
    <a:lt1>
      <a:srgbClr val="FFFFFF"/>
    </a:lt1>
    <a:dk2>
      <a:srgbClr val="44546A"/>
    </a:dk2>
    <a:lt2>
      <a:srgbClr val="E7E6E6"/>
    </a:lt2>
    <a:accent1>
      <a:srgbClr val="761669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等线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等线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1145</Words>
  <Application>Microsoft Office PowerPoint</Application>
  <PresentationFormat>全屏显示(16:9)</PresentationFormat>
  <Paragraphs>243</Paragraphs>
  <Slides>20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Arial Unicode MS</vt:lpstr>
      <vt:lpstr>汉仪旗黑-55简</vt:lpstr>
      <vt:lpstr>微软雅黑</vt:lpstr>
      <vt:lpstr>微软雅黑 Light</vt:lpstr>
      <vt:lpstr>Aptos</vt:lpstr>
      <vt:lpstr>Arial</vt:lpstr>
      <vt:lpstr>Calibri</vt:lpstr>
      <vt:lpstr>Times New Roman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EcoPassEU – Blockchain Digital Product Passports</dc:title>
  <dc:subject>PptxGenJS Presentation</dc:subject>
  <dc:creator>PptxGenJS</dc:creator>
  <cp:lastModifiedBy>Detai Dong</cp:lastModifiedBy>
  <cp:revision>11</cp:revision>
  <dcterms:created xsi:type="dcterms:W3CDTF">2026-05-04T15:46:00Z</dcterms:created>
  <dcterms:modified xsi:type="dcterms:W3CDTF">2026-05-05T12:49:12Z</dcterms:modified>
</cp:coreProperties>
</file>